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5" r:id="rId1"/>
  </p:sldMasterIdLst>
  <p:notesMasterIdLst>
    <p:notesMasterId r:id="rId3"/>
  </p:notesMasterIdLst>
  <p:sldIdLst>
    <p:sldId id="256" r:id="rId2"/>
  </p:sldIdLst>
  <p:sldSz cx="6858000" cy="457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2B2"/>
    <a:srgbClr val="F4C97A"/>
    <a:srgbClr val="E69F00"/>
    <a:srgbClr val="56B4E9"/>
    <a:srgbClr val="CC79A7"/>
    <a:srgbClr val="E6B9D4"/>
    <a:srgbClr val="D85C00"/>
    <a:srgbClr val="D70001"/>
    <a:srgbClr val="067643"/>
    <a:srgbClr val="66C2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558"/>
    <p:restoredTop sz="94690"/>
  </p:normalViewPr>
  <p:slideViewPr>
    <p:cSldViewPr snapToGrid="0">
      <p:cViewPr varScale="1">
        <p:scale>
          <a:sx n="167" d="100"/>
          <a:sy n="167" d="100"/>
        </p:scale>
        <p:origin x="4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CDCA09-FA9A-FE47-A967-C142DA2AD5FF}" type="datetimeFigureOut">
              <a:rPr lang="en-US" smtClean="0"/>
              <a:t>12/5/25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A46927-0C4B-CB48-8FF7-FEA4D470AB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856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14425" y="1143000"/>
            <a:ext cx="46291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A46927-0C4B-CB48-8FF7-FEA4D470ABF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308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748242"/>
            <a:ext cx="5829300" cy="1591733"/>
          </a:xfrm>
        </p:spPr>
        <p:txBody>
          <a:bodyPr anchor="b"/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2401359"/>
            <a:ext cx="5143500" cy="1103841"/>
          </a:xfrm>
        </p:spPr>
        <p:txBody>
          <a:bodyPr/>
          <a:lstStyle>
            <a:lvl1pPr marL="0" indent="0" algn="ctr">
              <a:buNone/>
              <a:defRPr sz="1600"/>
            </a:lvl1pPr>
            <a:lvl2pPr marL="304815" indent="0" algn="ctr">
              <a:buNone/>
              <a:defRPr sz="1333"/>
            </a:lvl2pPr>
            <a:lvl3pPr marL="609630" indent="0" algn="ctr">
              <a:buNone/>
              <a:defRPr sz="1200"/>
            </a:lvl3pPr>
            <a:lvl4pPr marL="914446" indent="0" algn="ctr">
              <a:buNone/>
              <a:defRPr sz="1067"/>
            </a:lvl4pPr>
            <a:lvl5pPr marL="1219261" indent="0" algn="ctr">
              <a:buNone/>
              <a:defRPr sz="1067"/>
            </a:lvl5pPr>
            <a:lvl6pPr marL="1524076" indent="0" algn="ctr">
              <a:buNone/>
              <a:defRPr sz="1067"/>
            </a:lvl6pPr>
            <a:lvl7pPr marL="1828891" indent="0" algn="ctr">
              <a:buNone/>
              <a:defRPr sz="1067"/>
            </a:lvl7pPr>
            <a:lvl8pPr marL="2133707" indent="0" algn="ctr">
              <a:buNone/>
              <a:defRPr sz="1067"/>
            </a:lvl8pPr>
            <a:lvl9pPr marL="2438522" indent="0" algn="ctr">
              <a:buNone/>
              <a:defRPr sz="106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350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091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139826"/>
            <a:ext cx="5915025" cy="1901825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3059643"/>
            <a:ext cx="5915025" cy="1000125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017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217083"/>
            <a:ext cx="2914650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217083"/>
            <a:ext cx="2914650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823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243417"/>
            <a:ext cx="5915025" cy="8837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120775"/>
            <a:ext cx="2901255" cy="5492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1670050"/>
            <a:ext cx="2901255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120775"/>
            <a:ext cx="2915543" cy="5492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1670050"/>
            <a:ext cx="2915543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533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797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202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04800"/>
            <a:ext cx="2211884" cy="1066800"/>
          </a:xfrm>
        </p:spPr>
        <p:txBody>
          <a:bodyPr anchor="b"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658284"/>
            <a:ext cx="3471863" cy="3249083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1371600"/>
            <a:ext cx="2211884" cy="2541059"/>
          </a:xfrm>
        </p:spPr>
        <p:txBody>
          <a:bodyPr/>
          <a:lstStyle>
            <a:lvl1pPr marL="0" indent="0">
              <a:buNone/>
              <a:defRPr sz="1067"/>
            </a:lvl1pPr>
            <a:lvl2pPr marL="304815" indent="0">
              <a:buNone/>
              <a:defRPr sz="933"/>
            </a:lvl2pPr>
            <a:lvl3pPr marL="609630" indent="0">
              <a:buNone/>
              <a:defRPr sz="800"/>
            </a:lvl3pPr>
            <a:lvl4pPr marL="914446" indent="0">
              <a:buNone/>
              <a:defRPr sz="667"/>
            </a:lvl4pPr>
            <a:lvl5pPr marL="1219261" indent="0">
              <a:buNone/>
              <a:defRPr sz="667"/>
            </a:lvl5pPr>
            <a:lvl6pPr marL="1524076" indent="0">
              <a:buNone/>
              <a:defRPr sz="667"/>
            </a:lvl6pPr>
            <a:lvl7pPr marL="1828891" indent="0">
              <a:buNone/>
              <a:defRPr sz="667"/>
            </a:lvl7pPr>
            <a:lvl8pPr marL="2133707" indent="0">
              <a:buNone/>
              <a:defRPr sz="667"/>
            </a:lvl8pPr>
            <a:lvl9pPr marL="2438522" indent="0">
              <a:buNone/>
              <a:defRPr sz="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82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04800"/>
            <a:ext cx="2211884" cy="1066800"/>
          </a:xfrm>
        </p:spPr>
        <p:txBody>
          <a:bodyPr anchor="b"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658284"/>
            <a:ext cx="3471863" cy="3249083"/>
          </a:xfrm>
        </p:spPr>
        <p:txBody>
          <a:bodyPr anchor="t"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1371600"/>
            <a:ext cx="2211884" cy="2541059"/>
          </a:xfrm>
        </p:spPr>
        <p:txBody>
          <a:bodyPr/>
          <a:lstStyle>
            <a:lvl1pPr marL="0" indent="0">
              <a:buNone/>
              <a:defRPr sz="1067"/>
            </a:lvl1pPr>
            <a:lvl2pPr marL="304815" indent="0">
              <a:buNone/>
              <a:defRPr sz="933"/>
            </a:lvl2pPr>
            <a:lvl3pPr marL="609630" indent="0">
              <a:buNone/>
              <a:defRPr sz="800"/>
            </a:lvl3pPr>
            <a:lvl4pPr marL="914446" indent="0">
              <a:buNone/>
              <a:defRPr sz="667"/>
            </a:lvl4pPr>
            <a:lvl5pPr marL="1219261" indent="0">
              <a:buNone/>
              <a:defRPr sz="667"/>
            </a:lvl5pPr>
            <a:lvl6pPr marL="1524076" indent="0">
              <a:buNone/>
              <a:defRPr sz="667"/>
            </a:lvl6pPr>
            <a:lvl7pPr marL="1828891" indent="0">
              <a:buNone/>
              <a:defRPr sz="667"/>
            </a:lvl7pPr>
            <a:lvl8pPr marL="2133707" indent="0">
              <a:buNone/>
              <a:defRPr sz="667"/>
            </a:lvl8pPr>
            <a:lvl9pPr marL="2438522" indent="0">
              <a:buNone/>
              <a:defRPr sz="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377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973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243416"/>
            <a:ext cx="1478756" cy="387455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243416"/>
            <a:ext cx="4350544" cy="387455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C70F63-332C-3848-8FC4-A5AA61D38FDB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125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243417"/>
            <a:ext cx="5915025" cy="8837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217083"/>
            <a:ext cx="5915025" cy="29008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4237568"/>
            <a:ext cx="154305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C70F63-332C-3848-8FC4-A5AA61D38FDB}" type="datetimeFigureOut">
              <a:rPr lang="en-US" smtClean="0"/>
              <a:t>12/5/25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4237568"/>
            <a:ext cx="2314575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4237568"/>
            <a:ext cx="154305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D41E70-88DE-EF4B-A1B5-47847EE746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799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807" r:id="rId2"/>
    <p:sldLayoutId id="2147483808" r:id="rId3"/>
    <p:sldLayoutId id="2147483809" r:id="rId4"/>
    <p:sldLayoutId id="2147483810" r:id="rId5"/>
    <p:sldLayoutId id="2147483811" r:id="rId6"/>
    <p:sldLayoutId id="2147483812" r:id="rId7"/>
    <p:sldLayoutId id="2147483813" r:id="rId8"/>
    <p:sldLayoutId id="2147483814" r:id="rId9"/>
    <p:sldLayoutId id="2147483815" r:id="rId10"/>
    <p:sldLayoutId id="2147483816" r:id="rId11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4F820184-4DE4-9118-1E71-84320885A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6" y="2460457"/>
            <a:ext cx="3163824" cy="2109217"/>
          </a:xfrm>
          <a:prstGeom prst="rect">
            <a:avLst/>
          </a:prstGeom>
        </p:spPr>
      </p:pic>
      <p:pic>
        <p:nvPicPr>
          <p:cNvPr id="11" name="Picture 10" descr="A graph with a red line and blue line&#10;&#10;AI-generated content may be incorrect.">
            <a:extLst>
              <a:ext uri="{FF2B5EF4-FFF2-40B4-BE49-F238E27FC236}">
                <a16:creationId xmlns:a16="http://schemas.microsoft.com/office/drawing/2014/main" id="{E9EE09D5-52C9-17DC-E29F-8A35107773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41" y="2460457"/>
            <a:ext cx="3519237" cy="2111543"/>
          </a:xfrm>
          <a:prstGeom prst="rect">
            <a:avLst/>
          </a:prstGeom>
        </p:spPr>
      </p:pic>
      <p:pic>
        <p:nvPicPr>
          <p:cNvPr id="18" name="Picture 17" descr="A graph of a number of people&#10;&#10;AI-generated content may be incorrect.">
            <a:extLst>
              <a:ext uri="{FF2B5EF4-FFF2-40B4-BE49-F238E27FC236}">
                <a16:creationId xmlns:a16="http://schemas.microsoft.com/office/drawing/2014/main" id="{8F3A5625-9EDE-FF5E-A874-22450D43F9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67" y="19207"/>
            <a:ext cx="6825791" cy="226679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359F154-34CA-13CA-8E46-AD0A17A2E3B7}"/>
              </a:ext>
            </a:extLst>
          </p:cNvPr>
          <p:cNvSpPr txBox="1"/>
          <p:nvPr/>
        </p:nvSpPr>
        <p:spPr>
          <a:xfrm>
            <a:off x="-67977" y="2328254"/>
            <a:ext cx="2458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A027C6-B48B-1192-118C-D86B24DE50D9}"/>
              </a:ext>
            </a:extLst>
          </p:cNvPr>
          <p:cNvSpPr txBox="1"/>
          <p:nvPr/>
        </p:nvSpPr>
        <p:spPr>
          <a:xfrm>
            <a:off x="3175053" y="2328254"/>
            <a:ext cx="2458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78A062F-03A4-F743-7DD4-EDEEB0DB4A38}"/>
              </a:ext>
            </a:extLst>
          </p:cNvPr>
          <p:cNvSpPr txBox="1"/>
          <p:nvPr/>
        </p:nvSpPr>
        <p:spPr>
          <a:xfrm>
            <a:off x="-21069" y="326031"/>
            <a:ext cx="323732" cy="1655169"/>
          </a:xfrm>
          <a:prstGeom prst="rect">
            <a:avLst/>
          </a:prstGeom>
          <a:solidFill>
            <a:schemeClr val="bg1"/>
          </a:solidFill>
        </p:spPr>
        <p:txBody>
          <a:bodyPr vert="vert270"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% of life-span reduction in </a:t>
            </a:r>
            <a:r>
              <a:rPr 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fsRRDL</a:t>
            </a:r>
            <a:r>
              <a:rPr 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males relative to WT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731779-4379-D647-36D3-382BC8AB3F12}"/>
                  </a:ext>
                </a:extLst>
              </p:cNvPr>
              <p:cNvSpPr txBox="1"/>
              <p:nvPr/>
            </p:nvSpPr>
            <p:spPr>
              <a:xfrm>
                <a:off x="2619031" y="76740"/>
                <a:ext cx="1876769" cy="30777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800" b="1" dirty="0"/>
                  <a:t>Median time to elimination (TTE) of female population (when PoE</a:t>
                </a:r>
                <a14:m>
                  <m:oMath xmlns:m="http://schemas.openxmlformats.org/officeDocument/2006/math">
                    <m:r>
                      <a:rPr lang="en-US" sz="800" b="1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800" b="1" dirty="0"/>
                  <a:t>0.5)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5731779-4379-D647-36D3-382BC8AB3F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9031" y="76740"/>
                <a:ext cx="1876769" cy="307776"/>
              </a:xfrm>
              <a:prstGeom prst="rect">
                <a:avLst/>
              </a:prstGeom>
              <a:blipFill>
                <a:blip r:embed="rId6"/>
                <a:stretch>
                  <a:fillRect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930060F-DA94-4ED6-4282-41F1D8B2A6A1}"/>
                  </a:ext>
                </a:extLst>
              </p:cNvPr>
              <p:cNvSpPr txBox="1"/>
              <p:nvPr/>
            </p:nvSpPr>
            <p:spPr>
              <a:xfrm>
                <a:off x="3550921" y="1198323"/>
                <a:ext cx="78351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8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Median </a:t>
                </a:r>
              </a:p>
              <a:p>
                <a:r>
                  <a:rPr lang="en-US" sz="8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TTE </a:t>
                </a:r>
                <a14:m>
                  <m:oMath xmlns:m="http://schemas.openxmlformats.org/officeDocument/2006/math">
                    <m:r>
                      <a:rPr lang="en-US" sz="800" i="1" dirty="0" smtClean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8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5 yrs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930060F-DA94-4ED6-4282-41F1D8B2A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921" y="1198323"/>
                <a:ext cx="783516" cy="338554"/>
              </a:xfrm>
              <a:prstGeom prst="rect">
                <a:avLst/>
              </a:prstGeom>
              <a:blipFill>
                <a:blip r:embed="rId7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85648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6464</TotalTime>
  <Words>34</Words>
  <Application>Microsoft Macintosh PowerPoint</Application>
  <PresentationFormat>Custom</PresentationFormat>
  <Paragraphs>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Prateek Verma</dc:creator>
  <cp:lastModifiedBy>Prateek Verma</cp:lastModifiedBy>
  <cp:revision>114</cp:revision>
  <dcterms:created xsi:type="dcterms:W3CDTF">2025-06-10T01:48:20Z</dcterms:created>
  <dcterms:modified xsi:type="dcterms:W3CDTF">2025-12-05T22:53:27Z</dcterms:modified>
</cp:coreProperties>
</file>