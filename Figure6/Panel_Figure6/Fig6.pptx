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05" r:id="rId1"/>
  </p:sldMasterIdLst>
  <p:notesMasterIdLst>
    <p:notesMasterId r:id="rId3"/>
  </p:notesMasterIdLst>
  <p:sldIdLst>
    <p:sldId id="259" r:id="rId2"/>
  </p:sldIdLst>
  <p:sldSz cx="6858000" cy="457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072B2"/>
    <a:srgbClr val="F4C97A"/>
    <a:srgbClr val="E69F00"/>
    <a:srgbClr val="56B4E9"/>
    <a:srgbClr val="CC79A7"/>
    <a:srgbClr val="E6B9D4"/>
    <a:srgbClr val="D85C00"/>
    <a:srgbClr val="D70001"/>
    <a:srgbClr val="0676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9373"/>
    <p:restoredTop sz="94635"/>
  </p:normalViewPr>
  <p:slideViewPr>
    <p:cSldViewPr snapToGrid="0">
      <p:cViewPr varScale="1">
        <p:scale>
          <a:sx n="165" d="100"/>
          <a:sy n="165" d="100"/>
        </p:scale>
        <p:origin x="44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CDCA09-FA9A-FE47-A967-C142DA2AD5FF}" type="datetimeFigureOut">
              <a:rPr lang="en-US" smtClean="0"/>
              <a:t>4/30/26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14425" y="1143000"/>
            <a:ext cx="46291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A46927-0C4B-CB48-8FF7-FEA4D470AB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8564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748242"/>
            <a:ext cx="5829300" cy="1591733"/>
          </a:xfrm>
        </p:spPr>
        <p:txBody>
          <a:bodyPr anchor="b"/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2401359"/>
            <a:ext cx="5143500" cy="1103841"/>
          </a:xfrm>
        </p:spPr>
        <p:txBody>
          <a:bodyPr/>
          <a:lstStyle>
            <a:lvl1pPr marL="0" indent="0" algn="ctr">
              <a:buNone/>
              <a:defRPr sz="1600"/>
            </a:lvl1pPr>
            <a:lvl2pPr marL="304815" indent="0" algn="ctr">
              <a:buNone/>
              <a:defRPr sz="1333"/>
            </a:lvl2pPr>
            <a:lvl3pPr marL="609630" indent="0" algn="ctr">
              <a:buNone/>
              <a:defRPr sz="1200"/>
            </a:lvl3pPr>
            <a:lvl4pPr marL="914446" indent="0" algn="ctr">
              <a:buNone/>
              <a:defRPr sz="1067"/>
            </a:lvl4pPr>
            <a:lvl5pPr marL="1219261" indent="0" algn="ctr">
              <a:buNone/>
              <a:defRPr sz="1067"/>
            </a:lvl5pPr>
            <a:lvl6pPr marL="1524076" indent="0" algn="ctr">
              <a:buNone/>
              <a:defRPr sz="1067"/>
            </a:lvl6pPr>
            <a:lvl7pPr marL="1828891" indent="0" algn="ctr">
              <a:buNone/>
              <a:defRPr sz="1067"/>
            </a:lvl7pPr>
            <a:lvl8pPr marL="2133707" indent="0" algn="ctr">
              <a:buNone/>
              <a:defRPr sz="1067"/>
            </a:lvl8pPr>
            <a:lvl9pPr marL="2438522" indent="0" algn="ctr">
              <a:buNone/>
              <a:defRPr sz="106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70F63-332C-3848-8FC4-A5AA61D38FDB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41E70-88DE-EF4B-A1B5-47847EE746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3509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70F63-332C-3848-8FC4-A5AA61D38FDB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41E70-88DE-EF4B-A1B5-47847EE746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0919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1139826"/>
            <a:ext cx="5915025" cy="1901825"/>
          </a:xfrm>
        </p:spPr>
        <p:txBody>
          <a:bodyPr anchor="b"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3059643"/>
            <a:ext cx="5915025" cy="1000125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1pPr>
            <a:lvl2pPr marL="304815" indent="0">
              <a:buNone/>
              <a:defRPr sz="1333">
                <a:solidFill>
                  <a:schemeClr val="tx1">
                    <a:tint val="82000"/>
                  </a:schemeClr>
                </a:solidFill>
              </a:defRPr>
            </a:lvl2pPr>
            <a:lvl3pPr marL="60963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3pPr>
            <a:lvl4pPr marL="914446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4pPr>
            <a:lvl5pPr marL="1219261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5pPr>
            <a:lvl6pPr marL="1524076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6pPr>
            <a:lvl7pPr marL="1828891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7pPr>
            <a:lvl8pPr marL="2133707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8pPr>
            <a:lvl9pPr marL="2438522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70F63-332C-3848-8FC4-A5AA61D38FDB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41E70-88DE-EF4B-A1B5-47847EE746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0170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1217083"/>
            <a:ext cx="2914650" cy="29008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1217083"/>
            <a:ext cx="2914650" cy="29008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70F63-332C-3848-8FC4-A5AA61D38FDB}" type="datetimeFigureOut">
              <a:rPr lang="en-US" smtClean="0"/>
              <a:t>4/30/26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41E70-88DE-EF4B-A1B5-47847EE746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823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243417"/>
            <a:ext cx="5915025" cy="88370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1120775"/>
            <a:ext cx="2901255" cy="549275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1670050"/>
            <a:ext cx="2901255" cy="2456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1120775"/>
            <a:ext cx="2915543" cy="549275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1670050"/>
            <a:ext cx="2915543" cy="2456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70F63-332C-3848-8FC4-A5AA61D38FDB}" type="datetimeFigureOut">
              <a:rPr lang="en-US" smtClean="0"/>
              <a:t>4/30/26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41E70-88DE-EF4B-A1B5-47847EE746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5331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70F63-332C-3848-8FC4-A5AA61D38FDB}" type="datetimeFigureOut">
              <a:rPr lang="en-US" smtClean="0"/>
              <a:t>4/30/26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41E70-88DE-EF4B-A1B5-47847EE746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797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70F63-332C-3848-8FC4-A5AA61D38FDB}" type="datetimeFigureOut">
              <a:rPr lang="en-US" smtClean="0"/>
              <a:t>4/30/26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41E70-88DE-EF4B-A1B5-47847EE746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202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304800"/>
            <a:ext cx="2211884" cy="1066800"/>
          </a:xfrm>
        </p:spPr>
        <p:txBody>
          <a:bodyPr anchor="b"/>
          <a:lstStyle>
            <a:lvl1pPr>
              <a:defRPr sz="213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658284"/>
            <a:ext cx="3471863" cy="3249083"/>
          </a:xfrm>
        </p:spPr>
        <p:txBody>
          <a:bodyPr/>
          <a:lstStyle>
            <a:lvl1pPr>
              <a:defRPr sz="2133"/>
            </a:lvl1pPr>
            <a:lvl2pPr>
              <a:defRPr sz="1867"/>
            </a:lvl2pPr>
            <a:lvl3pPr>
              <a:defRPr sz="1600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1371600"/>
            <a:ext cx="2211884" cy="2541059"/>
          </a:xfrm>
        </p:spPr>
        <p:txBody>
          <a:bodyPr/>
          <a:lstStyle>
            <a:lvl1pPr marL="0" indent="0">
              <a:buNone/>
              <a:defRPr sz="1067"/>
            </a:lvl1pPr>
            <a:lvl2pPr marL="304815" indent="0">
              <a:buNone/>
              <a:defRPr sz="933"/>
            </a:lvl2pPr>
            <a:lvl3pPr marL="609630" indent="0">
              <a:buNone/>
              <a:defRPr sz="800"/>
            </a:lvl3pPr>
            <a:lvl4pPr marL="914446" indent="0">
              <a:buNone/>
              <a:defRPr sz="667"/>
            </a:lvl4pPr>
            <a:lvl5pPr marL="1219261" indent="0">
              <a:buNone/>
              <a:defRPr sz="667"/>
            </a:lvl5pPr>
            <a:lvl6pPr marL="1524076" indent="0">
              <a:buNone/>
              <a:defRPr sz="667"/>
            </a:lvl6pPr>
            <a:lvl7pPr marL="1828891" indent="0">
              <a:buNone/>
              <a:defRPr sz="667"/>
            </a:lvl7pPr>
            <a:lvl8pPr marL="2133707" indent="0">
              <a:buNone/>
              <a:defRPr sz="667"/>
            </a:lvl8pPr>
            <a:lvl9pPr marL="2438522" indent="0">
              <a:buNone/>
              <a:defRPr sz="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70F63-332C-3848-8FC4-A5AA61D38FDB}" type="datetimeFigureOut">
              <a:rPr lang="en-US" smtClean="0"/>
              <a:t>4/30/26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41E70-88DE-EF4B-A1B5-47847EE746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6820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304800"/>
            <a:ext cx="2211884" cy="1066800"/>
          </a:xfrm>
        </p:spPr>
        <p:txBody>
          <a:bodyPr anchor="b"/>
          <a:lstStyle>
            <a:lvl1pPr>
              <a:defRPr sz="213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658284"/>
            <a:ext cx="3471863" cy="3249083"/>
          </a:xfrm>
        </p:spPr>
        <p:txBody>
          <a:bodyPr anchor="t"/>
          <a:lstStyle>
            <a:lvl1pPr marL="0" indent="0">
              <a:buNone/>
              <a:defRPr sz="2133"/>
            </a:lvl1pPr>
            <a:lvl2pPr marL="304815" indent="0">
              <a:buNone/>
              <a:defRPr sz="1867"/>
            </a:lvl2pPr>
            <a:lvl3pPr marL="609630" indent="0">
              <a:buNone/>
              <a:defRPr sz="1600"/>
            </a:lvl3pPr>
            <a:lvl4pPr marL="914446" indent="0">
              <a:buNone/>
              <a:defRPr sz="1333"/>
            </a:lvl4pPr>
            <a:lvl5pPr marL="1219261" indent="0">
              <a:buNone/>
              <a:defRPr sz="1333"/>
            </a:lvl5pPr>
            <a:lvl6pPr marL="1524076" indent="0">
              <a:buNone/>
              <a:defRPr sz="1333"/>
            </a:lvl6pPr>
            <a:lvl7pPr marL="1828891" indent="0">
              <a:buNone/>
              <a:defRPr sz="1333"/>
            </a:lvl7pPr>
            <a:lvl8pPr marL="2133707" indent="0">
              <a:buNone/>
              <a:defRPr sz="1333"/>
            </a:lvl8pPr>
            <a:lvl9pPr marL="2438522" indent="0">
              <a:buNone/>
              <a:defRPr sz="133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1371600"/>
            <a:ext cx="2211884" cy="2541059"/>
          </a:xfrm>
        </p:spPr>
        <p:txBody>
          <a:bodyPr/>
          <a:lstStyle>
            <a:lvl1pPr marL="0" indent="0">
              <a:buNone/>
              <a:defRPr sz="1067"/>
            </a:lvl1pPr>
            <a:lvl2pPr marL="304815" indent="0">
              <a:buNone/>
              <a:defRPr sz="933"/>
            </a:lvl2pPr>
            <a:lvl3pPr marL="609630" indent="0">
              <a:buNone/>
              <a:defRPr sz="800"/>
            </a:lvl3pPr>
            <a:lvl4pPr marL="914446" indent="0">
              <a:buNone/>
              <a:defRPr sz="667"/>
            </a:lvl4pPr>
            <a:lvl5pPr marL="1219261" indent="0">
              <a:buNone/>
              <a:defRPr sz="667"/>
            </a:lvl5pPr>
            <a:lvl6pPr marL="1524076" indent="0">
              <a:buNone/>
              <a:defRPr sz="667"/>
            </a:lvl6pPr>
            <a:lvl7pPr marL="1828891" indent="0">
              <a:buNone/>
              <a:defRPr sz="667"/>
            </a:lvl7pPr>
            <a:lvl8pPr marL="2133707" indent="0">
              <a:buNone/>
              <a:defRPr sz="667"/>
            </a:lvl8pPr>
            <a:lvl9pPr marL="2438522" indent="0">
              <a:buNone/>
              <a:defRPr sz="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70F63-332C-3848-8FC4-A5AA61D38FDB}" type="datetimeFigureOut">
              <a:rPr lang="en-US" smtClean="0"/>
              <a:t>4/30/26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41E70-88DE-EF4B-A1B5-47847EE746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3776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70F63-332C-3848-8FC4-A5AA61D38FDB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41E70-88DE-EF4B-A1B5-47847EE746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9736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243416"/>
            <a:ext cx="1478756" cy="387455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243416"/>
            <a:ext cx="4350544" cy="387455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70F63-332C-3848-8FC4-A5AA61D38FDB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41E70-88DE-EF4B-A1B5-47847EE746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125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243417"/>
            <a:ext cx="5915025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1217083"/>
            <a:ext cx="5915025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7" y="4237568"/>
            <a:ext cx="154305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C70F63-332C-3848-8FC4-A5AA61D38FDB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4237568"/>
            <a:ext cx="2314575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4237568"/>
            <a:ext cx="154305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D41E70-88DE-EF4B-A1B5-47847EE746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7998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6" r:id="rId1"/>
    <p:sldLayoutId id="2147483807" r:id="rId2"/>
    <p:sldLayoutId id="2147483808" r:id="rId3"/>
    <p:sldLayoutId id="2147483809" r:id="rId4"/>
    <p:sldLayoutId id="2147483810" r:id="rId5"/>
    <p:sldLayoutId id="2147483811" r:id="rId6"/>
    <p:sldLayoutId id="2147483812" r:id="rId7"/>
    <p:sldLayoutId id="2147483813" r:id="rId8"/>
    <p:sldLayoutId id="2147483814" r:id="rId9"/>
    <p:sldLayoutId id="2147483815" r:id="rId10"/>
    <p:sldLayoutId id="2147483816" r:id="rId11"/>
  </p:sldLayoutIdLst>
  <p:txStyles>
    <p:titleStyle>
      <a:lvl1pPr algn="l" defTabSz="609630" rtl="0" eaLnBrk="1" latinLnBrk="0" hangingPunct="1">
        <a:lnSpc>
          <a:spcPct val="90000"/>
        </a:lnSpc>
        <a:spcBef>
          <a:spcPct val="0"/>
        </a:spcBef>
        <a:buNone/>
        <a:defRPr sz="29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2408" indent="-152408" algn="l" defTabSz="60963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1pPr>
      <a:lvl2pPr marL="457223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62038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3pPr>
      <a:lvl4pPr marL="1066853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69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676484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981299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286114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590930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15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3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4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6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7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9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707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522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2.png"/><Relationship Id="rId3" Type="http://schemas.openxmlformats.org/officeDocument/2006/relationships/image" Target="../media/image2.emf"/><Relationship Id="rId7" Type="http://schemas.openxmlformats.org/officeDocument/2006/relationships/image" Target="../media/image5.emf"/><Relationship Id="rId12" Type="http://schemas.openxmlformats.org/officeDocument/2006/relationships/image" Target="../media/image11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emf"/><Relationship Id="rId11" Type="http://schemas.openxmlformats.org/officeDocument/2006/relationships/image" Target="../media/image10.png"/><Relationship Id="rId5" Type="http://schemas.openxmlformats.org/officeDocument/2006/relationships/image" Target="../media/image3.emf"/><Relationship Id="rId10" Type="http://schemas.openxmlformats.org/officeDocument/2006/relationships/image" Target="../media/image7.png"/><Relationship Id="rId4" Type="http://schemas.openxmlformats.org/officeDocument/2006/relationships/image" Target="../media/image8.png"/><Relationship Id="rId9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FD48C48C-9CFA-AD7F-8793-8ADE158EAB0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8323"/>
          <a:stretch>
            <a:fillRect/>
          </a:stretch>
        </p:blipFill>
        <p:spPr>
          <a:xfrm>
            <a:off x="2871764" y="51104"/>
            <a:ext cx="3945847" cy="225598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96C6369-7D65-6F4C-EB8B-E3B8B960681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131" t="3955"/>
          <a:stretch>
            <a:fillRect/>
          </a:stretch>
        </p:blipFill>
        <p:spPr>
          <a:xfrm>
            <a:off x="31586" y="259487"/>
            <a:ext cx="2731241" cy="205220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82DDD4C-1BCA-4834-7EBC-36E96AB0341F}"/>
              </a:ext>
            </a:extLst>
          </p:cNvPr>
          <p:cNvSpPr txBox="1"/>
          <p:nvPr/>
        </p:nvSpPr>
        <p:spPr>
          <a:xfrm>
            <a:off x="-52479" y="-15498"/>
            <a:ext cx="2458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59B15B-76F6-BD1C-F441-4BD5F678CE6B}"/>
              </a:ext>
            </a:extLst>
          </p:cNvPr>
          <p:cNvSpPr txBox="1"/>
          <p:nvPr/>
        </p:nvSpPr>
        <p:spPr>
          <a:xfrm>
            <a:off x="101724" y="44043"/>
            <a:ext cx="26865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/>
              <a:t>Boosted YLE (YLE + autosomal X-Shredder)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3D707A-54F6-2F27-3442-C07D3A882630}"/>
              </a:ext>
            </a:extLst>
          </p:cNvPr>
          <p:cNvSpPr txBox="1"/>
          <p:nvPr/>
        </p:nvSpPr>
        <p:spPr>
          <a:xfrm>
            <a:off x="2846892" y="-15498"/>
            <a:ext cx="2458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CCCFD54-8587-E193-039B-D503C72C4DE9}"/>
                  </a:ext>
                </a:extLst>
              </p:cNvPr>
              <p:cNvSpPr txBox="1"/>
              <p:nvPr/>
            </p:nvSpPr>
            <p:spPr>
              <a:xfrm>
                <a:off x="2518167" y="2398312"/>
                <a:ext cx="1876769" cy="3077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800" b="1" dirty="0"/>
                  <a:t>Median time to elimination (TTE) of female population (when PoE</a:t>
                </a:r>
                <a14:m>
                  <m:oMath xmlns:m="http://schemas.openxmlformats.org/officeDocument/2006/math">
                    <m:r>
                      <a:rPr lang="en-US" sz="800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sz="800" b="1" dirty="0"/>
                  <a:t>0.5)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CCCFD54-8587-E193-039B-D503C72C4D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8167" y="2398312"/>
                <a:ext cx="1876769" cy="307776"/>
              </a:xfrm>
              <a:prstGeom prst="rect">
                <a:avLst/>
              </a:prstGeom>
              <a:blipFill>
                <a:blip r:embed="rId4"/>
                <a:stretch>
                  <a:fillRect b="-11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FAE613F6-7574-9313-9578-B1EB2486EED4}"/>
              </a:ext>
            </a:extLst>
          </p:cNvPr>
          <p:cNvSpPr txBox="1"/>
          <p:nvPr/>
        </p:nvSpPr>
        <p:spPr>
          <a:xfrm>
            <a:off x="238140" y="2394741"/>
            <a:ext cx="18767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Probability of elimination (PoE)</a:t>
            </a:r>
          </a:p>
          <a:p>
            <a:r>
              <a:rPr lang="en-US" sz="800" b="1" dirty="0"/>
              <a:t>of female population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0EA05A0-2E94-2E99-007A-DDD271B3C28A}"/>
              </a:ext>
            </a:extLst>
          </p:cNvPr>
          <p:cNvSpPr txBox="1"/>
          <p:nvPr/>
        </p:nvSpPr>
        <p:spPr>
          <a:xfrm>
            <a:off x="4804525" y="2390672"/>
            <a:ext cx="18767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/>
              <a:t>Mean of total population after</a:t>
            </a:r>
          </a:p>
          <a:p>
            <a:r>
              <a:rPr lang="en-US" sz="800" b="1" dirty="0"/>
              <a:t>50 yrs </a:t>
            </a:r>
            <a:r>
              <a:rPr lang="en-US" sz="800" b="1" dirty="0" err="1"/>
              <a:t>normalised</a:t>
            </a:r>
            <a:r>
              <a:rPr lang="en-US" sz="800" b="1" dirty="0"/>
              <a:t> to K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B3561EA-D1BE-5468-FA6D-647775A0FE07}"/>
              </a:ext>
            </a:extLst>
          </p:cNvPr>
          <p:cNvSpPr txBox="1"/>
          <p:nvPr/>
        </p:nvSpPr>
        <p:spPr>
          <a:xfrm>
            <a:off x="0" y="2413700"/>
            <a:ext cx="2458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c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1311185-86B3-AD56-AB1D-7E64E3BA596C}"/>
              </a:ext>
            </a:extLst>
          </p:cNvPr>
          <p:cNvSpPr txBox="1"/>
          <p:nvPr/>
        </p:nvSpPr>
        <p:spPr>
          <a:xfrm>
            <a:off x="2296297" y="2413700"/>
            <a:ext cx="2458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72A1ED6-5874-3DFC-E2DD-B514E89B159F}"/>
              </a:ext>
            </a:extLst>
          </p:cNvPr>
          <p:cNvSpPr txBox="1"/>
          <p:nvPr/>
        </p:nvSpPr>
        <p:spPr>
          <a:xfrm>
            <a:off x="4591050" y="2413700"/>
            <a:ext cx="2458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e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0948552-2FE9-7B9B-F26A-A99E16A55DA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0177" t="10553" r="28701"/>
          <a:stretch>
            <a:fillRect/>
          </a:stretch>
        </p:blipFill>
        <p:spPr>
          <a:xfrm>
            <a:off x="4708625" y="2689206"/>
            <a:ext cx="2149358" cy="188119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6C76A2E-7BB5-C71F-7F4F-AB2D282260F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0186" t="10553" r="28135"/>
          <a:stretch>
            <a:fillRect/>
          </a:stretch>
        </p:blipFill>
        <p:spPr>
          <a:xfrm>
            <a:off x="2441754" y="2689208"/>
            <a:ext cx="2178420" cy="188119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EABCFD2-1DF4-01CD-1FA0-3B948B67A983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0453" t="10553" r="28700"/>
          <a:stretch>
            <a:fillRect/>
          </a:stretch>
        </p:blipFill>
        <p:spPr>
          <a:xfrm>
            <a:off x="154097" y="2689208"/>
            <a:ext cx="2134955" cy="188118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3E6527D-A083-04CA-5B8A-D2C43557D83F}"/>
                  </a:ext>
                </a:extLst>
              </p:cNvPr>
              <p:cNvSpPr txBox="1"/>
              <p:nvPr/>
            </p:nvSpPr>
            <p:spPr>
              <a:xfrm>
                <a:off x="3580351" y="2713728"/>
                <a:ext cx="71988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7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Median </a:t>
                </a:r>
              </a:p>
              <a:p>
                <a:r>
                  <a:rPr lang="en-US" sz="7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TTE </a:t>
                </a:r>
                <a14:m>
                  <m:oMath xmlns:m="http://schemas.openxmlformats.org/officeDocument/2006/math">
                    <m:r>
                      <a:rPr lang="en-US" sz="750" i="1" dirty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sz="7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 5 yrs </a:t>
                </a: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3E6527D-A083-04CA-5B8A-D2C43557D8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0351" y="2713728"/>
                <a:ext cx="719886" cy="323165"/>
              </a:xfrm>
              <a:prstGeom prst="rect">
                <a:avLst/>
              </a:prstGeom>
              <a:blipFill>
                <a:blip r:embed="rId8"/>
                <a:stretch>
                  <a:fillRect b="-37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64E6BD0-A957-CA16-7C65-8EC153D2534D}"/>
                  </a:ext>
                </a:extLst>
              </p:cNvPr>
              <p:cNvSpPr txBox="1"/>
              <p:nvPr/>
            </p:nvSpPr>
            <p:spPr>
              <a:xfrm rot="16200000">
                <a:off x="-634143" y="3384558"/>
                <a:ext cx="1384081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800" b="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X-shredder </a:t>
                </a:r>
                <a:r>
                  <a:rPr 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e</a:t>
                </a:r>
                <a:r>
                  <a:rPr lang="en-US" sz="800" b="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fficiency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800" b="0" i="1" dirty="0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800" i="1" dirty="0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800" b="0" i="1" dirty="0" smtClean="0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𝑋𝑆</m:t>
                        </m:r>
                      </m:sub>
                    </m:sSub>
                  </m:oMath>
                </a14:m>
                <a:endParaRPr lang="en-US" sz="105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64E6BD0-A957-CA16-7C65-8EC153D253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634143" y="3384558"/>
                <a:ext cx="1384081" cy="215444"/>
              </a:xfrm>
              <a:prstGeom prst="rect">
                <a:avLst/>
              </a:prstGeom>
              <a:blipFill>
                <a:blip r:embed="rId9"/>
                <a:stretch>
                  <a:fillRect r="-11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A8D6F2DE-6A81-87D5-A442-91E92DADA179}"/>
              </a:ext>
            </a:extLst>
          </p:cNvPr>
          <p:cNvSpPr/>
          <p:nvPr/>
        </p:nvSpPr>
        <p:spPr>
          <a:xfrm>
            <a:off x="4460460" y="301232"/>
            <a:ext cx="1989620" cy="989878"/>
          </a:xfrm>
          <a:prstGeom prst="roundRect">
            <a:avLst/>
          </a:prstGeom>
          <a:solidFill>
            <a:srgbClr val="FFFFFF">
              <a:alpha val="69804"/>
            </a:srgbClr>
          </a:solidFill>
          <a:ln w="9525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B665B6C-F4BE-EDCB-6F05-BD403E057096}"/>
                  </a:ext>
                </a:extLst>
              </p:cNvPr>
              <p:cNvSpPr txBox="1"/>
              <p:nvPr/>
            </p:nvSpPr>
            <p:spPr>
              <a:xfrm>
                <a:off x="4706781" y="352981"/>
                <a:ext cx="1703463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800" dirty="0"/>
                  <a:t>YLE (</a:t>
                </a:r>
                <a14:m>
                  <m:oMath xmlns:m="http://schemas.openxmlformats.org/officeDocument/2006/math">
                    <m:r>
                      <a:rPr lang="en-US" sz="800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800" b="0" i="1" dirty="0" smtClean="0">
                        <a:latin typeface="Cambria Math" panose="02040503050406030204" pitchFamily="18" charset="0"/>
                      </a:rPr>
                      <m:t>𝑒𝑙</m:t>
                    </m:r>
                    <m:r>
                      <a:rPr lang="en-US" sz="800" b="0" i="1" dirty="0" smtClean="0">
                        <a:latin typeface="Cambria Math" panose="02040503050406030204" pitchFamily="18" charset="0"/>
                      </a:rPr>
                      <m:t>=5%</m:t>
                    </m:r>
                  </m:oMath>
                </a14:m>
                <a:r>
                  <a:rPr lang="en-US" sz="800" dirty="0"/>
                  <a:t>)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B665B6C-F4BE-EDCB-6F05-BD403E0570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6781" y="352981"/>
                <a:ext cx="1703463" cy="215444"/>
              </a:xfrm>
              <a:prstGeom prst="rect">
                <a:avLst/>
              </a:prstGeom>
              <a:blipFill>
                <a:blip r:embed="rId10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6" name="Picture 25">
            <a:extLst>
              <a:ext uri="{FF2B5EF4-FFF2-40B4-BE49-F238E27FC236}">
                <a16:creationId xmlns:a16="http://schemas.microsoft.com/office/drawing/2014/main" id="{7F984CAB-58F2-A1EB-D368-0120EA5C858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6960" t="84751" r="38564" b="2806"/>
          <a:stretch>
            <a:fillRect/>
          </a:stretch>
        </p:blipFill>
        <p:spPr>
          <a:xfrm>
            <a:off x="4503694" y="804684"/>
            <a:ext cx="219645" cy="427482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1B0E9876-883C-5D0D-C881-A84EECC39C6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062" t="84751" r="70559" b="2805"/>
          <a:stretch>
            <a:fillRect/>
          </a:stretch>
        </p:blipFill>
        <p:spPr>
          <a:xfrm>
            <a:off x="4552455" y="365881"/>
            <a:ext cx="165827" cy="42748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3300206-F1F1-2D18-039C-552EEB791662}"/>
                  </a:ext>
                </a:extLst>
              </p:cNvPr>
              <p:cNvSpPr txBox="1"/>
              <p:nvPr/>
            </p:nvSpPr>
            <p:spPr>
              <a:xfrm>
                <a:off x="4706781" y="575834"/>
                <a:ext cx="1941504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800" dirty="0"/>
                  <a:t>Boosted YLE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8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800" b="0" i="1" dirty="0" smtClean="0">
                            <a:latin typeface="Cambria Math" panose="02040503050406030204" pitchFamily="18" charset="0"/>
                          </a:rPr>
                          <m:t>𝑟𝑒𝑙</m:t>
                        </m:r>
                        <m:r>
                          <a:rPr lang="en-US" sz="800" b="0" i="1" dirty="0" smtClean="0">
                            <a:latin typeface="Cambria Math" panose="02040503050406030204" pitchFamily="18" charset="0"/>
                          </a:rPr>
                          <m:t>=2%, </m:t>
                        </m:r>
                        <m:r>
                          <a:rPr lang="en-US" sz="80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800" i="1" dirty="0" smtClean="0">
                            <a:latin typeface="Cambria Math" panose="02040503050406030204" pitchFamily="18" charset="0"/>
                          </a:rPr>
                          <m:t>𝑋𝑆</m:t>
                        </m:r>
                      </m:sub>
                    </m:sSub>
                    <m:r>
                      <a:rPr lang="en-US" sz="800" b="0" i="1" dirty="0" smtClean="0">
                        <a:latin typeface="Cambria Math" panose="02040503050406030204" pitchFamily="18" charset="0"/>
                      </a:rPr>
                      <m:t>=0.8</m:t>
                    </m:r>
                  </m:oMath>
                </a14:m>
                <a:r>
                  <a:rPr lang="en-US" sz="800" dirty="0"/>
                  <a:t>)</a:t>
                </a: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3300206-F1F1-2D18-039C-552EEB7916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6781" y="575834"/>
                <a:ext cx="1941504" cy="215444"/>
              </a:xfrm>
              <a:prstGeom prst="rect">
                <a:avLst/>
              </a:prstGeom>
              <a:blipFill>
                <a:blip r:embed="rId11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F695D135-0C93-D0C5-66A9-E361FC405265}"/>
                  </a:ext>
                </a:extLst>
              </p:cNvPr>
              <p:cNvSpPr txBox="1"/>
              <p:nvPr/>
            </p:nvSpPr>
            <p:spPr>
              <a:xfrm>
                <a:off x="4706781" y="797327"/>
                <a:ext cx="1941504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800" dirty="0"/>
                  <a:t>Boosted YLE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8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800" b="0" i="1" dirty="0" smtClean="0">
                            <a:latin typeface="Cambria Math" panose="02040503050406030204" pitchFamily="18" charset="0"/>
                          </a:rPr>
                          <m:t>𝑟𝑒𝑙</m:t>
                        </m:r>
                        <m:r>
                          <a:rPr lang="en-US" sz="800" b="0" i="1" dirty="0" smtClean="0">
                            <a:latin typeface="Cambria Math" panose="02040503050406030204" pitchFamily="18" charset="0"/>
                          </a:rPr>
                          <m:t>=1%, </m:t>
                        </m:r>
                        <m:r>
                          <a:rPr lang="en-US" sz="80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800" i="1" dirty="0" smtClean="0">
                            <a:latin typeface="Cambria Math" panose="02040503050406030204" pitchFamily="18" charset="0"/>
                          </a:rPr>
                          <m:t>𝑋𝑆</m:t>
                        </m:r>
                      </m:sub>
                    </m:sSub>
                    <m:r>
                      <a:rPr lang="en-US" sz="800" b="0" i="1" dirty="0" smtClean="0">
                        <a:latin typeface="Cambria Math" panose="02040503050406030204" pitchFamily="18" charset="0"/>
                      </a:rPr>
                      <m:t>=0.8</m:t>
                    </m:r>
                  </m:oMath>
                </a14:m>
                <a:r>
                  <a:rPr lang="en-US" sz="800" dirty="0"/>
                  <a:t>)</a:t>
                </a: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F695D135-0C93-D0C5-66A9-E361FC4052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6781" y="797327"/>
                <a:ext cx="1941504" cy="215444"/>
              </a:xfrm>
              <a:prstGeom prst="rect">
                <a:avLst/>
              </a:prstGeom>
              <a:blipFill>
                <a:blip r:embed="rId12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B2F7DCF-6EF7-1D63-0411-586A36C7CA2A}"/>
                  </a:ext>
                </a:extLst>
              </p:cNvPr>
              <p:cNvSpPr txBox="1"/>
              <p:nvPr/>
            </p:nvSpPr>
            <p:spPr>
              <a:xfrm>
                <a:off x="4706781" y="1020885"/>
                <a:ext cx="1941504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800" dirty="0"/>
                  <a:t>Boosted YLE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8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800" b="0" i="1" dirty="0" smtClean="0">
                            <a:latin typeface="Cambria Math" panose="02040503050406030204" pitchFamily="18" charset="0"/>
                          </a:rPr>
                          <m:t>𝑟𝑒𝑙</m:t>
                        </m:r>
                        <m:r>
                          <a:rPr lang="en-US" sz="800" b="0" i="1" dirty="0" smtClean="0">
                            <a:latin typeface="Cambria Math" panose="02040503050406030204" pitchFamily="18" charset="0"/>
                          </a:rPr>
                          <m:t>=2%, </m:t>
                        </m:r>
                        <m:r>
                          <a:rPr lang="en-US" sz="80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800" i="1" dirty="0" smtClean="0">
                            <a:latin typeface="Cambria Math" panose="02040503050406030204" pitchFamily="18" charset="0"/>
                          </a:rPr>
                          <m:t>𝑋𝑆</m:t>
                        </m:r>
                      </m:sub>
                    </m:sSub>
                    <m:r>
                      <a:rPr lang="en-US" sz="800" b="0" i="1" dirty="0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r>
                  <a:rPr lang="en-US" sz="800" dirty="0"/>
                  <a:t>)</a:t>
                </a: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B2F7DCF-6EF7-1D63-0411-586A36C7CA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6781" y="1020885"/>
                <a:ext cx="1941504" cy="215444"/>
              </a:xfrm>
              <a:prstGeom prst="rect">
                <a:avLst/>
              </a:prstGeom>
              <a:blipFill>
                <a:blip r:embed="rId13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144363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6815</TotalTime>
  <Words>83</Words>
  <Application>Microsoft Macintosh PowerPoint</Application>
  <PresentationFormat>Custom</PresentationFormat>
  <Paragraphs>18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Arial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Prateek Verma</dc:creator>
  <cp:lastModifiedBy>Prateek Verma</cp:lastModifiedBy>
  <cp:revision>131</cp:revision>
  <dcterms:created xsi:type="dcterms:W3CDTF">2025-06-10T01:48:20Z</dcterms:created>
  <dcterms:modified xsi:type="dcterms:W3CDTF">2026-04-30T20:37:50Z</dcterms:modified>
</cp:coreProperties>
</file>