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9" r:id="rId2"/>
  </p:sldIdLst>
  <p:sldSz cx="3657600" cy="2743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/>
    <p:restoredTop sz="94635"/>
  </p:normalViewPr>
  <p:slideViewPr>
    <p:cSldViewPr snapToGrid="0">
      <p:cViewPr varScale="1">
        <p:scale>
          <a:sx n="275" d="100"/>
          <a:sy n="275" d="100"/>
        </p:scale>
        <p:origin x="1608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D9F85C-3DD6-3447-AE02-239DFE77B908}" type="datetimeFigureOut">
              <a:rPr lang="en-US" smtClean="0"/>
              <a:t>5/5/26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7978B5-8BCD-5244-9C23-EBEF6D036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122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07238" rtl="0" eaLnBrk="1" latinLnBrk="0" hangingPunct="1">
      <a:defRPr sz="403" kern="1200">
        <a:solidFill>
          <a:schemeClr val="tx1"/>
        </a:solidFill>
        <a:latin typeface="+mn-lt"/>
        <a:ea typeface="+mn-ea"/>
        <a:cs typeface="+mn-cs"/>
      </a:defRPr>
    </a:lvl1pPr>
    <a:lvl2pPr marL="153619" algn="l" defTabSz="307238" rtl="0" eaLnBrk="1" latinLnBrk="0" hangingPunct="1">
      <a:defRPr sz="403" kern="1200">
        <a:solidFill>
          <a:schemeClr val="tx1"/>
        </a:solidFill>
        <a:latin typeface="+mn-lt"/>
        <a:ea typeface="+mn-ea"/>
        <a:cs typeface="+mn-cs"/>
      </a:defRPr>
    </a:lvl2pPr>
    <a:lvl3pPr marL="307238" algn="l" defTabSz="307238" rtl="0" eaLnBrk="1" latinLnBrk="0" hangingPunct="1">
      <a:defRPr sz="403" kern="1200">
        <a:solidFill>
          <a:schemeClr val="tx1"/>
        </a:solidFill>
        <a:latin typeface="+mn-lt"/>
        <a:ea typeface="+mn-ea"/>
        <a:cs typeface="+mn-cs"/>
      </a:defRPr>
    </a:lvl3pPr>
    <a:lvl4pPr marL="460858" algn="l" defTabSz="307238" rtl="0" eaLnBrk="1" latinLnBrk="0" hangingPunct="1">
      <a:defRPr sz="403" kern="1200">
        <a:solidFill>
          <a:schemeClr val="tx1"/>
        </a:solidFill>
        <a:latin typeface="+mn-lt"/>
        <a:ea typeface="+mn-ea"/>
        <a:cs typeface="+mn-cs"/>
      </a:defRPr>
    </a:lvl4pPr>
    <a:lvl5pPr marL="614477" algn="l" defTabSz="307238" rtl="0" eaLnBrk="1" latinLnBrk="0" hangingPunct="1">
      <a:defRPr sz="403" kern="1200">
        <a:solidFill>
          <a:schemeClr val="tx1"/>
        </a:solidFill>
        <a:latin typeface="+mn-lt"/>
        <a:ea typeface="+mn-ea"/>
        <a:cs typeface="+mn-cs"/>
      </a:defRPr>
    </a:lvl5pPr>
    <a:lvl6pPr marL="768096" algn="l" defTabSz="307238" rtl="0" eaLnBrk="1" latinLnBrk="0" hangingPunct="1">
      <a:defRPr sz="403" kern="1200">
        <a:solidFill>
          <a:schemeClr val="tx1"/>
        </a:solidFill>
        <a:latin typeface="+mn-lt"/>
        <a:ea typeface="+mn-ea"/>
        <a:cs typeface="+mn-cs"/>
      </a:defRPr>
    </a:lvl6pPr>
    <a:lvl7pPr marL="921715" algn="l" defTabSz="307238" rtl="0" eaLnBrk="1" latinLnBrk="0" hangingPunct="1">
      <a:defRPr sz="403" kern="1200">
        <a:solidFill>
          <a:schemeClr val="tx1"/>
        </a:solidFill>
        <a:latin typeface="+mn-lt"/>
        <a:ea typeface="+mn-ea"/>
        <a:cs typeface="+mn-cs"/>
      </a:defRPr>
    </a:lvl7pPr>
    <a:lvl8pPr marL="1075334" algn="l" defTabSz="307238" rtl="0" eaLnBrk="1" latinLnBrk="0" hangingPunct="1">
      <a:defRPr sz="403" kern="1200">
        <a:solidFill>
          <a:schemeClr val="tx1"/>
        </a:solidFill>
        <a:latin typeface="+mn-lt"/>
        <a:ea typeface="+mn-ea"/>
        <a:cs typeface="+mn-cs"/>
      </a:defRPr>
    </a:lvl8pPr>
    <a:lvl9pPr marL="1228954" algn="l" defTabSz="307238" rtl="0" eaLnBrk="1" latinLnBrk="0" hangingPunct="1">
      <a:defRPr sz="40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623FE-1800-D234-4F12-AB40E20F5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E692A2-9BF5-94EE-6A9E-85D7EDE5E2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3EC1DE-9B4A-4CB1-1123-EE5850515F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C04D9C-057A-4E85-A8FC-E2C8B01E3E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978B5-8BCD-5244-9C23-EBEF6D03605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287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20" y="448945"/>
            <a:ext cx="3108960" cy="955040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1440815"/>
            <a:ext cx="2743200" cy="662305"/>
          </a:xfrm>
        </p:spPr>
        <p:txBody>
          <a:bodyPr/>
          <a:lstStyle>
            <a:lvl1pPr marL="0" indent="0" algn="ctr">
              <a:buNone/>
              <a:defRPr sz="960"/>
            </a:lvl1pPr>
            <a:lvl2pPr marL="182880" indent="0" algn="ctr">
              <a:buNone/>
              <a:defRPr sz="800"/>
            </a:lvl2pPr>
            <a:lvl3pPr marL="365760" indent="0" algn="ctr">
              <a:buNone/>
              <a:defRPr sz="720"/>
            </a:lvl3pPr>
            <a:lvl4pPr marL="548640" indent="0" algn="ctr">
              <a:buNone/>
              <a:defRPr sz="640"/>
            </a:lvl4pPr>
            <a:lvl5pPr marL="731520" indent="0" algn="ctr">
              <a:buNone/>
              <a:defRPr sz="640"/>
            </a:lvl5pPr>
            <a:lvl6pPr marL="914400" indent="0" algn="ctr">
              <a:buNone/>
              <a:defRPr sz="640"/>
            </a:lvl6pPr>
            <a:lvl7pPr marL="1097280" indent="0" algn="ctr">
              <a:buNone/>
              <a:defRPr sz="640"/>
            </a:lvl7pPr>
            <a:lvl8pPr marL="1280160" indent="0" algn="ctr">
              <a:buNone/>
              <a:defRPr sz="640"/>
            </a:lvl8pPr>
            <a:lvl9pPr marL="1463040" indent="0" algn="ctr">
              <a:buNone/>
              <a:defRPr sz="6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02099-7BB5-CC4A-8B54-81E974196A99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212B1-106F-7B4F-B8D4-AE4003088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162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02099-7BB5-CC4A-8B54-81E974196A99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212B1-106F-7B4F-B8D4-AE4003088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227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555" y="683896"/>
            <a:ext cx="3154680" cy="114109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9555" y="1835786"/>
            <a:ext cx="3154680" cy="600075"/>
          </a:xfrm>
        </p:spPr>
        <p:txBody>
          <a:bodyPr/>
          <a:lstStyle>
            <a:lvl1pPr marL="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1pPr>
            <a:lvl2pPr marL="18288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2pPr>
            <a:lvl3pPr marL="365760" indent="0">
              <a:buNone/>
              <a:defRPr sz="720">
                <a:solidFill>
                  <a:schemeClr val="tx1">
                    <a:tint val="82000"/>
                  </a:schemeClr>
                </a:solidFill>
              </a:defRPr>
            </a:lvl3pPr>
            <a:lvl4pPr marL="54864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4pPr>
            <a:lvl5pPr marL="73152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5pPr>
            <a:lvl6pPr marL="91440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6pPr>
            <a:lvl7pPr marL="109728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7pPr>
            <a:lvl8pPr marL="128016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8pPr>
            <a:lvl9pPr marL="146304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02099-7BB5-CC4A-8B54-81E974196A99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212B1-106F-7B4F-B8D4-AE4003088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000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460" y="730250"/>
            <a:ext cx="155448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51660" y="730250"/>
            <a:ext cx="155448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02099-7BB5-CC4A-8B54-81E974196A99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212B1-106F-7B4F-B8D4-AE4003088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415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" y="146051"/>
            <a:ext cx="3154680" cy="5302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937" y="672465"/>
            <a:ext cx="1547336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937" y="1002030"/>
            <a:ext cx="1547336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51660" y="672465"/>
            <a:ext cx="1554956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51660" y="1002030"/>
            <a:ext cx="1554956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02099-7BB5-CC4A-8B54-81E974196A99}" type="datetimeFigureOut">
              <a:rPr lang="en-US" smtClean="0"/>
              <a:t>5/5/26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212B1-106F-7B4F-B8D4-AE4003088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760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02099-7BB5-CC4A-8B54-81E974196A99}" type="datetimeFigureOut">
              <a:rPr lang="en-US" smtClean="0"/>
              <a:t>5/5/26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212B1-106F-7B4F-B8D4-AE4003088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952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02099-7BB5-CC4A-8B54-81E974196A99}" type="datetimeFigureOut">
              <a:rPr lang="en-US" smtClean="0"/>
              <a:t>5/5/26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212B1-106F-7B4F-B8D4-AE4003088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685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7" y="182880"/>
            <a:ext cx="1179671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4956" y="394971"/>
            <a:ext cx="1851660" cy="1949450"/>
          </a:xfrm>
        </p:spPr>
        <p:txBody>
          <a:bodyPr/>
          <a:lstStyle>
            <a:lvl1pPr>
              <a:defRPr sz="1280"/>
            </a:lvl1pPr>
            <a:lvl2pPr>
              <a:defRPr sz="1120"/>
            </a:lvl2pPr>
            <a:lvl3pPr>
              <a:defRPr sz="96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7" y="822960"/>
            <a:ext cx="1179671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02099-7BB5-CC4A-8B54-81E974196A99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212B1-106F-7B4F-B8D4-AE4003088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850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7" y="182880"/>
            <a:ext cx="1179671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54956" y="394971"/>
            <a:ext cx="1851660" cy="1949450"/>
          </a:xfrm>
        </p:spPr>
        <p:txBody>
          <a:bodyPr anchor="t"/>
          <a:lstStyle>
            <a:lvl1pPr marL="0" indent="0">
              <a:buNone/>
              <a:defRPr sz="1280"/>
            </a:lvl1pPr>
            <a:lvl2pPr marL="182880" indent="0">
              <a:buNone/>
              <a:defRPr sz="1120"/>
            </a:lvl2pPr>
            <a:lvl3pPr marL="365760" indent="0">
              <a:buNone/>
              <a:defRPr sz="960"/>
            </a:lvl3pPr>
            <a:lvl4pPr marL="548640" indent="0">
              <a:buNone/>
              <a:defRPr sz="800"/>
            </a:lvl4pPr>
            <a:lvl5pPr marL="731520" indent="0">
              <a:buNone/>
              <a:defRPr sz="800"/>
            </a:lvl5pPr>
            <a:lvl6pPr marL="914400" indent="0">
              <a:buNone/>
              <a:defRPr sz="800"/>
            </a:lvl6pPr>
            <a:lvl7pPr marL="1097280" indent="0">
              <a:buNone/>
              <a:defRPr sz="800"/>
            </a:lvl7pPr>
            <a:lvl8pPr marL="1280160" indent="0">
              <a:buNone/>
              <a:defRPr sz="800"/>
            </a:lvl8pPr>
            <a:lvl9pPr marL="1463040" indent="0">
              <a:buNone/>
              <a:defRPr sz="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7" y="822960"/>
            <a:ext cx="1179671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02099-7BB5-CC4A-8B54-81E974196A99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212B1-106F-7B4F-B8D4-AE4003088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53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02099-7BB5-CC4A-8B54-81E974196A99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212B1-106F-7B4F-B8D4-AE4003088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969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17470" y="146050"/>
            <a:ext cx="788670" cy="2324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1460" y="146050"/>
            <a:ext cx="2320290" cy="23247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02099-7BB5-CC4A-8B54-81E974196A99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212B1-106F-7B4F-B8D4-AE4003088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530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" y="146051"/>
            <a:ext cx="3154680" cy="530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" y="730250"/>
            <a:ext cx="3154680" cy="1740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460" y="2542541"/>
            <a:ext cx="82296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B02099-7BB5-CC4A-8B54-81E974196A99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1580" y="2542541"/>
            <a:ext cx="123444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83180" y="2542541"/>
            <a:ext cx="82296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D212B1-106F-7B4F-B8D4-AE4003088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991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65760" rtl="0" eaLnBrk="1" latinLnBrk="0" hangingPunct="1">
        <a:lnSpc>
          <a:spcPct val="90000"/>
        </a:lnSpc>
        <a:spcBef>
          <a:spcPct val="0"/>
        </a:spcBef>
        <a:buNone/>
        <a:defRPr sz="17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36576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9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12" Type="http://schemas.microsoft.com/office/2007/relationships/hdphoto" Target="../media/hdphoto2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microsoft.com/office/2007/relationships/hdphoto" Target="../media/hdphoto1.wdp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4E9C4-6977-47A3-D19B-5463272BC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Rat with solid fill">
            <a:extLst>
              <a:ext uri="{FF2B5EF4-FFF2-40B4-BE49-F238E27FC236}">
                <a16:creationId xmlns:a16="http://schemas.microsoft.com/office/drawing/2014/main" id="{B5BF38B8-F7CE-9072-753E-3E96E883B4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8222" y="41057"/>
            <a:ext cx="540918" cy="540918"/>
          </a:xfrm>
          <a:prstGeom prst="rect">
            <a:avLst/>
          </a:prstGeom>
        </p:spPr>
      </p:pic>
      <p:pic>
        <p:nvPicPr>
          <p:cNvPr id="6" name="Graphic 5" descr="Rat with solid fill">
            <a:extLst>
              <a:ext uri="{FF2B5EF4-FFF2-40B4-BE49-F238E27FC236}">
                <a16:creationId xmlns:a16="http://schemas.microsoft.com/office/drawing/2014/main" id="{5CF9CF49-A4A2-CF75-0DFF-6C5514B190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5901" y="41057"/>
            <a:ext cx="540918" cy="540918"/>
          </a:xfrm>
          <a:prstGeom prst="rect">
            <a:avLst/>
          </a:prstGeom>
        </p:spPr>
      </p:pic>
      <p:pic>
        <p:nvPicPr>
          <p:cNvPr id="7" name="Graphic 6" descr="Rat with solid fill">
            <a:extLst>
              <a:ext uri="{FF2B5EF4-FFF2-40B4-BE49-F238E27FC236}">
                <a16:creationId xmlns:a16="http://schemas.microsoft.com/office/drawing/2014/main" id="{AE2D1951-0AA7-ADAB-E25D-09FE22F1A5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9344" y="988602"/>
            <a:ext cx="540918" cy="540918"/>
          </a:xfrm>
          <a:prstGeom prst="rect">
            <a:avLst/>
          </a:prstGeom>
          <a:effectLst/>
        </p:spPr>
      </p:pic>
      <p:pic>
        <p:nvPicPr>
          <p:cNvPr id="8" name="Graphic 7" descr="Rat with solid fill">
            <a:extLst>
              <a:ext uri="{FF2B5EF4-FFF2-40B4-BE49-F238E27FC236}">
                <a16:creationId xmlns:a16="http://schemas.microsoft.com/office/drawing/2014/main" id="{2225AFDE-8FA0-45CE-EBA5-82FB23954D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91260" y="988602"/>
            <a:ext cx="540918" cy="540918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5DE12E0-0486-2804-71D6-CA1BF5D222FC}"/>
              </a:ext>
            </a:extLst>
          </p:cNvPr>
          <p:cNvCxnSpPr>
            <a:cxnSpLocks/>
          </p:cNvCxnSpPr>
          <p:nvPr/>
        </p:nvCxnSpPr>
        <p:spPr>
          <a:xfrm>
            <a:off x="990758" y="399539"/>
            <a:ext cx="3692" cy="61851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24C131A-BCD2-2DFB-C7C1-00268B9B97D7}"/>
              </a:ext>
            </a:extLst>
          </p:cNvPr>
          <p:cNvCxnSpPr/>
          <p:nvPr/>
        </p:nvCxnSpPr>
        <p:spPr>
          <a:xfrm>
            <a:off x="1579978" y="1008647"/>
            <a:ext cx="0" cy="9568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275A7E6-4E13-134B-AEA2-C189E396E7D4}"/>
              </a:ext>
            </a:extLst>
          </p:cNvPr>
          <p:cNvCxnSpPr/>
          <p:nvPr/>
        </p:nvCxnSpPr>
        <p:spPr>
          <a:xfrm>
            <a:off x="405624" y="1018057"/>
            <a:ext cx="118070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3A93A93-E20C-E24F-029C-B4229DB5888D}"/>
              </a:ext>
            </a:extLst>
          </p:cNvPr>
          <p:cNvCxnSpPr/>
          <p:nvPr/>
        </p:nvCxnSpPr>
        <p:spPr>
          <a:xfrm>
            <a:off x="413695" y="1014515"/>
            <a:ext cx="0" cy="9568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1DC8051-3CA1-6EAA-4291-74E71DC5B7D2}"/>
              </a:ext>
            </a:extLst>
          </p:cNvPr>
          <p:cNvCxnSpPr>
            <a:cxnSpLocks/>
          </p:cNvCxnSpPr>
          <p:nvPr/>
        </p:nvCxnSpPr>
        <p:spPr>
          <a:xfrm>
            <a:off x="776460" y="399534"/>
            <a:ext cx="41383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3" name="Graphic 22" descr="Female with solid fill">
            <a:extLst>
              <a:ext uri="{FF2B5EF4-FFF2-40B4-BE49-F238E27FC236}">
                <a16:creationId xmlns:a16="http://schemas.microsoft.com/office/drawing/2014/main" id="{1589F5B6-08F8-A3D4-0D64-7143E6F0E0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1985" y="118134"/>
            <a:ext cx="142441" cy="142441"/>
          </a:xfrm>
          <a:prstGeom prst="rect">
            <a:avLst/>
          </a:prstGeom>
        </p:spPr>
      </p:pic>
      <p:pic>
        <p:nvPicPr>
          <p:cNvPr id="24" name="Graphic 23" descr="Male with solid fill">
            <a:extLst>
              <a:ext uri="{FF2B5EF4-FFF2-40B4-BE49-F238E27FC236}">
                <a16:creationId xmlns:a16="http://schemas.microsoft.com/office/drawing/2014/main" id="{F8CA1DF6-5958-4D93-E9DC-A4D29D58B4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45021" y="131988"/>
            <a:ext cx="142441" cy="142441"/>
          </a:xfrm>
          <a:prstGeom prst="rect">
            <a:avLst/>
          </a:prstGeom>
        </p:spPr>
      </p:pic>
      <p:pic>
        <p:nvPicPr>
          <p:cNvPr id="25" name="Graphic 24" descr="Female with solid fill">
            <a:extLst>
              <a:ext uri="{FF2B5EF4-FFF2-40B4-BE49-F238E27FC236}">
                <a16:creationId xmlns:a16="http://schemas.microsoft.com/office/drawing/2014/main" id="{65EA9AF5-CD83-BE1F-E8F6-CEEFFEAE39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5818" y="1068619"/>
            <a:ext cx="142441" cy="142441"/>
          </a:xfrm>
          <a:prstGeom prst="rect">
            <a:avLst/>
          </a:prstGeom>
        </p:spPr>
      </p:pic>
      <p:pic>
        <p:nvPicPr>
          <p:cNvPr id="26" name="Graphic 25" descr="Male with solid fill">
            <a:extLst>
              <a:ext uri="{FF2B5EF4-FFF2-40B4-BE49-F238E27FC236}">
                <a16:creationId xmlns:a16="http://schemas.microsoft.com/office/drawing/2014/main" id="{3EFAB3E5-9D14-5C69-D68A-491E077C63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24754" y="1086896"/>
            <a:ext cx="142441" cy="142441"/>
          </a:xfrm>
          <a:prstGeom prst="rect">
            <a:avLst/>
          </a:prstGeom>
        </p:spPr>
      </p:pic>
      <p:pic>
        <p:nvPicPr>
          <p:cNvPr id="46" name="Graphic 45" descr="Rat with solid fill">
            <a:extLst>
              <a:ext uri="{FF2B5EF4-FFF2-40B4-BE49-F238E27FC236}">
                <a16:creationId xmlns:a16="http://schemas.microsoft.com/office/drawing/2014/main" id="{B71BC4B0-CF62-C651-E9F2-C8CAB25962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9197" y="1519932"/>
            <a:ext cx="332509" cy="332509"/>
          </a:xfrm>
          <a:prstGeom prst="rect">
            <a:avLst/>
          </a:prstGeom>
        </p:spPr>
      </p:pic>
      <p:pic>
        <p:nvPicPr>
          <p:cNvPr id="47" name="Graphic 46" descr="Rat with solid fill">
            <a:extLst>
              <a:ext uri="{FF2B5EF4-FFF2-40B4-BE49-F238E27FC236}">
                <a16:creationId xmlns:a16="http://schemas.microsoft.com/office/drawing/2014/main" id="{BB311D1D-8C58-D4EC-8C6D-559522ACF8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9197" y="1817133"/>
            <a:ext cx="332509" cy="332509"/>
          </a:xfrm>
          <a:prstGeom prst="rect">
            <a:avLst/>
          </a:prstGeom>
        </p:spPr>
      </p:pic>
      <p:pic>
        <p:nvPicPr>
          <p:cNvPr id="48" name="Graphic 47" descr="Rat with solid fill">
            <a:extLst>
              <a:ext uri="{FF2B5EF4-FFF2-40B4-BE49-F238E27FC236}">
                <a16:creationId xmlns:a16="http://schemas.microsoft.com/office/drawing/2014/main" id="{3A38F23C-EF21-35AF-E947-0DBFFD038A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7517" y="2135440"/>
            <a:ext cx="335868" cy="335868"/>
          </a:xfrm>
          <a:prstGeom prst="rect">
            <a:avLst/>
          </a:prstGeom>
          <a:effectLst/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9A4B0CD5-EA97-8819-77C4-921EE7EB6542}"/>
              </a:ext>
            </a:extLst>
          </p:cNvPr>
          <p:cNvSpPr txBox="1"/>
          <p:nvPr/>
        </p:nvSpPr>
        <p:spPr>
          <a:xfrm>
            <a:off x="633927" y="1596636"/>
            <a:ext cx="9458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Transgene Male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0C02F8A-2C5A-399C-DE17-E0C139CFDB34}"/>
              </a:ext>
            </a:extLst>
          </p:cNvPr>
          <p:cNvSpPr txBox="1"/>
          <p:nvPr/>
        </p:nvSpPr>
        <p:spPr>
          <a:xfrm>
            <a:off x="633927" y="1887192"/>
            <a:ext cx="77365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WT Female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83F40CA-08F4-6DFC-0B67-27C1D30B933A}"/>
              </a:ext>
            </a:extLst>
          </p:cNvPr>
          <p:cNvSpPr txBox="1"/>
          <p:nvPr/>
        </p:nvSpPr>
        <p:spPr>
          <a:xfrm>
            <a:off x="633927" y="2127809"/>
            <a:ext cx="10896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Edited Female (Sterile/ non-viable)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91929065-FBD9-AE5A-4DAD-55999D250E78}"/>
              </a:ext>
            </a:extLst>
          </p:cNvPr>
          <p:cNvSpPr/>
          <p:nvPr/>
        </p:nvSpPr>
        <p:spPr>
          <a:xfrm>
            <a:off x="310235" y="1506119"/>
            <a:ext cx="1477222" cy="1179532"/>
          </a:xfrm>
          <a:prstGeom prst="round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Multiply 53">
            <a:extLst>
              <a:ext uri="{FF2B5EF4-FFF2-40B4-BE49-F238E27FC236}">
                <a16:creationId xmlns:a16="http://schemas.microsoft.com/office/drawing/2014/main" id="{799406E8-C29E-BCB9-D669-B600A1E972ED}"/>
              </a:ext>
            </a:extLst>
          </p:cNvPr>
          <p:cNvSpPr>
            <a:spLocks noChangeAspect="1"/>
          </p:cNvSpPr>
          <p:nvPr/>
        </p:nvSpPr>
        <p:spPr>
          <a:xfrm>
            <a:off x="291599" y="1193769"/>
            <a:ext cx="243436" cy="249383"/>
          </a:xfrm>
          <a:prstGeom prst="mathMultiply">
            <a:avLst>
              <a:gd name="adj1" fmla="val 9674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29E9738-D3B4-A674-44A1-D80B7F141D46}"/>
                  </a:ext>
                </a:extLst>
              </p:cNvPr>
              <p:cNvSpPr txBox="1"/>
              <p:nvPr/>
            </p:nvSpPr>
            <p:spPr>
              <a:xfrm>
                <a:off x="1128721" y="666350"/>
                <a:ext cx="439137" cy="3418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105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05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050" b="0" i="1" dirty="0" smtClean="0">
                            <a:latin typeface="Cambria Math" panose="02040503050406030204" pitchFamily="18" charset="0"/>
                          </a:rPr>
                          <m:t>2−</m:t>
                        </m:r>
                        <m:sSub>
                          <m:sSubPr>
                            <m:ctrlPr>
                              <a:rPr lang="en-US" sz="105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50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050" b="0" i="1" dirty="0" smtClean="0">
                                <a:latin typeface="Cambria Math" panose="02040503050406030204" pitchFamily="18" charset="0"/>
                              </a:rPr>
                              <m:t>𝑋𝑆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050" dirty="0"/>
                  <a:t> </a:t>
                </a:r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29E9738-D3B4-A674-44A1-D80B7F141D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721" y="666350"/>
                <a:ext cx="439137" cy="34182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EE20EA4-A2D8-8607-7393-1D33AF8FEB53}"/>
                  </a:ext>
                </a:extLst>
              </p:cNvPr>
              <p:cNvSpPr txBox="1"/>
              <p:nvPr/>
            </p:nvSpPr>
            <p:spPr>
              <a:xfrm>
                <a:off x="367713" y="666671"/>
                <a:ext cx="637835" cy="3415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105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05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050" i="1" dirty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05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5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050" i="1" dirty="0">
                                <a:latin typeface="Cambria Math" panose="02040503050406030204" pitchFamily="18" charset="0"/>
                              </a:rPr>
                              <m:t>𝑋𝑆</m:t>
                            </m:r>
                          </m:sub>
                        </m:sSub>
                      </m:num>
                      <m:den>
                        <m:r>
                          <a:rPr lang="en-US" sz="1050" b="0" i="1" dirty="0" smtClean="0">
                            <a:latin typeface="Cambria Math" panose="02040503050406030204" pitchFamily="18" charset="0"/>
                          </a:rPr>
                          <m:t>2−</m:t>
                        </m:r>
                        <m:sSub>
                          <m:sSubPr>
                            <m:ctrlPr>
                              <a:rPr lang="en-US" sz="105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50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050" b="0" i="1" dirty="0" smtClean="0">
                                <a:latin typeface="Cambria Math" panose="02040503050406030204" pitchFamily="18" charset="0"/>
                              </a:rPr>
                              <m:t>𝑋𝑆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050" dirty="0"/>
                  <a:t> </a:t>
                </a:r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EE20EA4-A2D8-8607-7393-1D33AF8FEB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713" y="666671"/>
                <a:ext cx="637835" cy="34150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Rectangle 82">
            <a:extLst>
              <a:ext uri="{FF2B5EF4-FFF2-40B4-BE49-F238E27FC236}">
                <a16:creationId xmlns:a16="http://schemas.microsoft.com/office/drawing/2014/main" id="{411D32AB-84FC-F56D-E746-B0954201A80F}"/>
              </a:ext>
            </a:extLst>
          </p:cNvPr>
          <p:cNvSpPr/>
          <p:nvPr/>
        </p:nvSpPr>
        <p:spPr>
          <a:xfrm>
            <a:off x="2125163" y="1793174"/>
            <a:ext cx="91440" cy="91440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3F37004-8503-2414-CE1C-A8CF49F29C43}"/>
              </a:ext>
            </a:extLst>
          </p:cNvPr>
          <p:cNvSpPr/>
          <p:nvPr/>
        </p:nvSpPr>
        <p:spPr>
          <a:xfrm>
            <a:off x="2123389" y="1539190"/>
            <a:ext cx="94989" cy="9144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F850876-48DC-F921-6919-EF199091CE6B}"/>
              </a:ext>
            </a:extLst>
          </p:cNvPr>
          <p:cNvSpPr txBox="1"/>
          <p:nvPr/>
        </p:nvSpPr>
        <p:spPr>
          <a:xfrm>
            <a:off x="2339353" y="1711166"/>
            <a:ext cx="12025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Female specific</a:t>
            </a:r>
          </a:p>
          <a:p>
            <a:r>
              <a:rPr lang="en-US" sz="800" dirty="0"/>
              <a:t>Dominant mutation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6F364D3-E08E-21DF-FE4E-AD4605D93975}"/>
              </a:ext>
            </a:extLst>
          </p:cNvPr>
          <p:cNvSpPr txBox="1"/>
          <p:nvPr/>
        </p:nvSpPr>
        <p:spPr>
          <a:xfrm>
            <a:off x="2339353" y="1477188"/>
            <a:ext cx="10499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Y-Linked Editor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56385406-DFE7-6308-20DA-450721177AF9}"/>
              </a:ext>
            </a:extLst>
          </p:cNvPr>
          <p:cNvGrpSpPr/>
          <p:nvPr/>
        </p:nvGrpSpPr>
        <p:grpSpPr>
          <a:xfrm>
            <a:off x="2036486" y="2379905"/>
            <a:ext cx="268532" cy="183965"/>
            <a:chOff x="2115605" y="2408769"/>
            <a:chExt cx="268532" cy="183965"/>
          </a:xfrm>
        </p:grpSpPr>
        <p:sp>
          <p:nvSpPr>
            <p:cNvPr id="82" name="Rounded Rectangle 81">
              <a:extLst>
                <a:ext uri="{FF2B5EF4-FFF2-40B4-BE49-F238E27FC236}">
                  <a16:creationId xmlns:a16="http://schemas.microsoft.com/office/drawing/2014/main" id="{F89FA2FC-6A11-7EE5-49C7-C59E5131FB62}"/>
                </a:ext>
              </a:extLst>
            </p:cNvPr>
            <p:cNvSpPr/>
            <p:nvPr/>
          </p:nvSpPr>
          <p:spPr>
            <a:xfrm>
              <a:off x="2148781" y="2408769"/>
              <a:ext cx="222949" cy="183965"/>
            </a:xfrm>
            <a:prstGeom prst="roundRect">
              <a:avLst/>
            </a:prstGeom>
            <a:solidFill>
              <a:srgbClr val="D8E8F1">
                <a:alpha val="50196"/>
              </a:srgb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7" name="Picture 86" descr="A sperm with a long tail&#10;&#10;AI-generated content may be incorrect.">
              <a:extLst>
                <a:ext uri="{FF2B5EF4-FFF2-40B4-BE49-F238E27FC236}">
                  <a16:creationId xmlns:a16="http://schemas.microsoft.com/office/drawing/2014/main" id="{1BA87DD0-B747-BECA-4CB0-AAFC56233FE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duotone>
                <a:prstClr val="black"/>
                <a:srgbClr val="A1D7FF">
                  <a:alpha val="76078"/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40821" b="60549" l="10000" r="90000"/>
                      </a14:imgEffect>
                    </a14:imgLayer>
                  </a14:imgProps>
                </a:ext>
              </a:extLst>
            </a:blip>
            <a:srcRect t="38355" b="36985"/>
            <a:stretch>
              <a:fillRect/>
            </a:stretch>
          </p:blipFill>
          <p:spPr>
            <a:xfrm rot="10138952">
              <a:off x="2115605" y="2472647"/>
              <a:ext cx="268532" cy="66217"/>
            </a:xfrm>
            <a:prstGeom prst="rect">
              <a:avLst/>
            </a:prstGeom>
          </p:spPr>
        </p:pic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AE377145-9EAC-FFEB-F5E8-2AAD99E25B55}"/>
              </a:ext>
            </a:extLst>
          </p:cNvPr>
          <p:cNvSpPr txBox="1"/>
          <p:nvPr/>
        </p:nvSpPr>
        <p:spPr>
          <a:xfrm>
            <a:off x="2339353" y="2302233"/>
            <a:ext cx="12151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Sperm (Editing occurs </a:t>
            </a:r>
          </a:p>
          <a:p>
            <a:r>
              <a:rPr lang="en-US" sz="800" dirty="0"/>
              <a:t>in germline)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F911D0E-A30F-EAF4-0E97-33F8E1A22892}"/>
              </a:ext>
            </a:extLst>
          </p:cNvPr>
          <p:cNvSpPr/>
          <p:nvPr/>
        </p:nvSpPr>
        <p:spPr>
          <a:xfrm>
            <a:off x="2123389" y="2126003"/>
            <a:ext cx="94989" cy="9144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3C9FDBF-4AF7-B61E-EEE5-2BB6E39C8FBA}"/>
              </a:ext>
            </a:extLst>
          </p:cNvPr>
          <p:cNvSpPr txBox="1"/>
          <p:nvPr/>
        </p:nvSpPr>
        <p:spPr>
          <a:xfrm>
            <a:off x="2339354" y="2068254"/>
            <a:ext cx="12576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Autosomal X-Shredder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CA04F7AF-1F5A-2398-8CFF-E2566272BF01}"/>
              </a:ext>
            </a:extLst>
          </p:cNvPr>
          <p:cNvSpPr/>
          <p:nvPr/>
        </p:nvSpPr>
        <p:spPr>
          <a:xfrm>
            <a:off x="1960131" y="148827"/>
            <a:ext cx="1634225" cy="914977"/>
          </a:xfrm>
          <a:prstGeom prst="roundRect">
            <a:avLst/>
          </a:prstGeom>
          <a:solidFill>
            <a:srgbClr val="D8E8F1">
              <a:alpha val="50196"/>
            </a:srgbClr>
          </a:solidFill>
          <a:ln w="63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02B81386-ECC6-DB41-9E3D-8C2B041A399B}"/>
              </a:ext>
            </a:extLst>
          </p:cNvPr>
          <p:cNvSpPr/>
          <p:nvPr/>
        </p:nvSpPr>
        <p:spPr>
          <a:xfrm>
            <a:off x="2939846" y="310053"/>
            <a:ext cx="290917" cy="8083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BDFBD4D4-7BB7-75FB-0C26-2DE5A1784DC1}"/>
              </a:ext>
            </a:extLst>
          </p:cNvPr>
          <p:cNvSpPr/>
          <p:nvPr/>
        </p:nvSpPr>
        <p:spPr>
          <a:xfrm>
            <a:off x="3228852" y="311963"/>
            <a:ext cx="290917" cy="8083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84B99C6C-92E8-10F3-D144-974576C662F8}"/>
              </a:ext>
            </a:extLst>
          </p:cNvPr>
          <p:cNvSpPr/>
          <p:nvPr/>
        </p:nvSpPr>
        <p:spPr>
          <a:xfrm>
            <a:off x="2939846" y="453599"/>
            <a:ext cx="290917" cy="8083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1E3EDBCE-BC5B-29DD-1391-B90EEED1C778}"/>
              </a:ext>
            </a:extLst>
          </p:cNvPr>
          <p:cNvSpPr/>
          <p:nvPr/>
        </p:nvSpPr>
        <p:spPr>
          <a:xfrm>
            <a:off x="3228852" y="453599"/>
            <a:ext cx="290917" cy="8083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655E3E98-7C14-3150-785A-E1AC7CAC3151}"/>
              </a:ext>
            </a:extLst>
          </p:cNvPr>
          <p:cNvSpPr/>
          <p:nvPr/>
        </p:nvSpPr>
        <p:spPr>
          <a:xfrm>
            <a:off x="3061554" y="315361"/>
            <a:ext cx="54227" cy="77017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6096CAF7-CF01-8529-1113-FFD8E8F7504B}"/>
              </a:ext>
            </a:extLst>
          </p:cNvPr>
          <p:cNvSpPr/>
          <p:nvPr/>
        </p:nvSpPr>
        <p:spPr>
          <a:xfrm>
            <a:off x="3065432" y="456431"/>
            <a:ext cx="54227" cy="77017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73DC4DC3-43AF-526F-B308-81B011D181AA}"/>
              </a:ext>
            </a:extLst>
          </p:cNvPr>
          <p:cNvSpPr/>
          <p:nvPr/>
        </p:nvSpPr>
        <p:spPr>
          <a:xfrm>
            <a:off x="2385558" y="667733"/>
            <a:ext cx="112542" cy="8083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00" name="Rounded Rectangle 99">
            <a:extLst>
              <a:ext uri="{FF2B5EF4-FFF2-40B4-BE49-F238E27FC236}">
                <a16:creationId xmlns:a16="http://schemas.microsoft.com/office/drawing/2014/main" id="{0B347910-1AF2-9D94-7553-53EDF0772EF6}"/>
              </a:ext>
            </a:extLst>
          </p:cNvPr>
          <p:cNvSpPr/>
          <p:nvPr/>
        </p:nvSpPr>
        <p:spPr>
          <a:xfrm>
            <a:off x="2953765" y="693417"/>
            <a:ext cx="290917" cy="8083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D8CE7E6A-2E6E-90D6-8198-47F35D095DBE}"/>
              </a:ext>
            </a:extLst>
          </p:cNvPr>
          <p:cNvSpPr/>
          <p:nvPr/>
        </p:nvSpPr>
        <p:spPr>
          <a:xfrm>
            <a:off x="3242771" y="695327"/>
            <a:ext cx="290917" cy="8083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02" name="Rounded Rectangle 101">
            <a:extLst>
              <a:ext uri="{FF2B5EF4-FFF2-40B4-BE49-F238E27FC236}">
                <a16:creationId xmlns:a16="http://schemas.microsoft.com/office/drawing/2014/main" id="{1CDF06D9-61C4-2421-95DE-73C71EBE48DF}"/>
              </a:ext>
            </a:extLst>
          </p:cNvPr>
          <p:cNvSpPr/>
          <p:nvPr/>
        </p:nvSpPr>
        <p:spPr>
          <a:xfrm>
            <a:off x="2953765" y="832345"/>
            <a:ext cx="290917" cy="8083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id="{04B0DBE4-C086-943A-7648-5A6490C24B1F}"/>
              </a:ext>
            </a:extLst>
          </p:cNvPr>
          <p:cNvSpPr/>
          <p:nvPr/>
        </p:nvSpPr>
        <p:spPr>
          <a:xfrm>
            <a:off x="3242771" y="832345"/>
            <a:ext cx="290917" cy="8083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04" name="Rounded Rectangle 103">
            <a:extLst>
              <a:ext uri="{FF2B5EF4-FFF2-40B4-BE49-F238E27FC236}">
                <a16:creationId xmlns:a16="http://schemas.microsoft.com/office/drawing/2014/main" id="{EE75B11C-16E1-505E-CB21-B24AC3B00D49}"/>
              </a:ext>
            </a:extLst>
          </p:cNvPr>
          <p:cNvSpPr/>
          <p:nvPr/>
        </p:nvSpPr>
        <p:spPr>
          <a:xfrm>
            <a:off x="2094749" y="669643"/>
            <a:ext cx="290917" cy="8083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B90ACB90-D437-89EE-B4A0-BBC3B626B127}"/>
              </a:ext>
            </a:extLst>
          </p:cNvPr>
          <p:cNvSpPr/>
          <p:nvPr/>
        </p:nvSpPr>
        <p:spPr>
          <a:xfrm>
            <a:off x="2341510" y="524952"/>
            <a:ext cx="112542" cy="8083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06" name="Rounded Rectangle 105">
            <a:extLst>
              <a:ext uri="{FF2B5EF4-FFF2-40B4-BE49-F238E27FC236}">
                <a16:creationId xmlns:a16="http://schemas.microsoft.com/office/drawing/2014/main" id="{94CE2A1A-2F18-BBE2-94D6-DE16DCB44A39}"/>
              </a:ext>
            </a:extLst>
          </p:cNvPr>
          <p:cNvSpPr/>
          <p:nvPr/>
        </p:nvSpPr>
        <p:spPr>
          <a:xfrm>
            <a:off x="2096917" y="524952"/>
            <a:ext cx="240427" cy="8083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2532BD52-EE9F-613F-8024-2ACC66CBA09B}"/>
              </a:ext>
            </a:extLst>
          </p:cNvPr>
          <p:cNvSpPr/>
          <p:nvPr/>
        </p:nvSpPr>
        <p:spPr>
          <a:xfrm>
            <a:off x="2176167" y="524765"/>
            <a:ext cx="86413" cy="81023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2FB8C657-CE54-2C26-02FF-A4B572D80C7D}"/>
              </a:ext>
            </a:extLst>
          </p:cNvPr>
          <p:cNvSpPr/>
          <p:nvPr/>
        </p:nvSpPr>
        <p:spPr>
          <a:xfrm>
            <a:off x="3075473" y="698725"/>
            <a:ext cx="54227" cy="77017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F8F75F25-D0F3-23EB-5DCD-B24944A1E3A4}"/>
              </a:ext>
            </a:extLst>
          </p:cNvPr>
          <p:cNvSpPr/>
          <p:nvPr/>
        </p:nvSpPr>
        <p:spPr>
          <a:xfrm>
            <a:off x="3079351" y="835177"/>
            <a:ext cx="54227" cy="77017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cxnSp>
        <p:nvCxnSpPr>
          <p:cNvPr id="110" name="Curved Connector 109">
            <a:extLst>
              <a:ext uri="{FF2B5EF4-FFF2-40B4-BE49-F238E27FC236}">
                <a16:creationId xmlns:a16="http://schemas.microsoft.com/office/drawing/2014/main" id="{DA5F4A45-46D3-92E1-C2DD-4D4F93142AE8}"/>
              </a:ext>
            </a:extLst>
          </p:cNvPr>
          <p:cNvCxnSpPr>
            <a:cxnSpLocks/>
            <a:stCxn id="107" idx="0"/>
            <a:endCxn id="93" idx="0"/>
          </p:cNvCxnSpPr>
          <p:nvPr/>
        </p:nvCxnSpPr>
        <p:spPr>
          <a:xfrm rot="5400000" flipH="1" flipV="1">
            <a:off x="2544983" y="-15556"/>
            <a:ext cx="214712" cy="865931"/>
          </a:xfrm>
          <a:prstGeom prst="curvedConnector3">
            <a:avLst>
              <a:gd name="adj1" fmla="val 135487"/>
            </a:avLst>
          </a:prstGeom>
          <a:ln w="9525">
            <a:prstDash val="sysDash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11" name="Picture 110" descr="A sperm with a long tail&#10;&#10;AI-generated content may be incorrect.">
            <a:extLst>
              <a:ext uri="{FF2B5EF4-FFF2-40B4-BE49-F238E27FC236}">
                <a16:creationId xmlns:a16="http://schemas.microsoft.com/office/drawing/2014/main" id="{E0C2ABE4-5FCE-C73A-042B-9E979B2D664F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prstClr val="black"/>
              <a:srgbClr val="A1D7FF">
                <a:alpha val="76078"/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40821" b="60549" l="10000" r="90000"/>
                    </a14:imgEffect>
                  </a14:imgLayer>
                </a14:imgProps>
              </a:ext>
            </a:extLst>
          </a:blip>
          <a:srcRect t="38355" b="36985"/>
          <a:stretch>
            <a:fillRect/>
          </a:stretch>
        </p:blipFill>
        <p:spPr>
          <a:xfrm rot="10138952">
            <a:off x="2001749" y="410514"/>
            <a:ext cx="523291" cy="129039"/>
          </a:xfrm>
          <a:prstGeom prst="rect">
            <a:avLst/>
          </a:prstGeom>
        </p:spPr>
      </p:pic>
      <p:cxnSp>
        <p:nvCxnSpPr>
          <p:cNvPr id="112" name="Curved Connector 111">
            <a:extLst>
              <a:ext uri="{FF2B5EF4-FFF2-40B4-BE49-F238E27FC236}">
                <a16:creationId xmlns:a16="http://schemas.microsoft.com/office/drawing/2014/main" id="{0DE19038-C450-0C1B-D7AC-FA5DC0A5F5D8}"/>
              </a:ext>
            </a:extLst>
          </p:cNvPr>
          <p:cNvCxnSpPr>
            <a:cxnSpLocks/>
            <a:stCxn id="109" idx="2"/>
            <a:endCxn id="104" idx="2"/>
          </p:cNvCxnSpPr>
          <p:nvPr/>
        </p:nvCxnSpPr>
        <p:spPr>
          <a:xfrm rot="5400000" flipH="1">
            <a:off x="2592479" y="398208"/>
            <a:ext cx="161716" cy="866257"/>
          </a:xfrm>
          <a:prstGeom prst="curvedConnector3">
            <a:avLst>
              <a:gd name="adj1" fmla="val -44265"/>
            </a:avLst>
          </a:prstGeom>
          <a:ln w="9525">
            <a:prstDash val="sysDash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13" name="Graphic 112" descr="Scissors with solid fill">
            <a:extLst>
              <a:ext uri="{FF2B5EF4-FFF2-40B4-BE49-F238E27FC236}">
                <a16:creationId xmlns:a16="http://schemas.microsoft.com/office/drawing/2014/main" id="{22454BB6-B685-628F-9B4D-86E6B27074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13702431">
            <a:off x="2597473" y="130526"/>
            <a:ext cx="203200" cy="203200"/>
          </a:xfrm>
          <a:prstGeom prst="rect">
            <a:avLst/>
          </a:prstGeom>
        </p:spPr>
      </p:pic>
      <p:pic>
        <p:nvPicPr>
          <p:cNvPr id="114" name="Graphic 113" descr="Scissors with solid fill">
            <a:extLst>
              <a:ext uri="{FF2B5EF4-FFF2-40B4-BE49-F238E27FC236}">
                <a16:creationId xmlns:a16="http://schemas.microsoft.com/office/drawing/2014/main" id="{103EDCB6-2A57-AE95-619C-C0A8B3ED74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7897569" flipH="1">
            <a:off x="2560840" y="883055"/>
            <a:ext cx="203200" cy="203200"/>
          </a:xfrm>
          <a:prstGeom prst="rect">
            <a:avLst/>
          </a:prstGeom>
        </p:spPr>
      </p:pic>
      <p:sp>
        <p:nvSpPr>
          <p:cNvPr id="129" name="Bent Arrow 128">
            <a:extLst>
              <a:ext uri="{FF2B5EF4-FFF2-40B4-BE49-F238E27FC236}">
                <a16:creationId xmlns:a16="http://schemas.microsoft.com/office/drawing/2014/main" id="{DCEF0133-C628-1E58-DBC9-5478A007D9C7}"/>
              </a:ext>
            </a:extLst>
          </p:cNvPr>
          <p:cNvSpPr/>
          <p:nvPr/>
        </p:nvSpPr>
        <p:spPr>
          <a:xfrm flipV="1">
            <a:off x="1487495" y="473186"/>
            <a:ext cx="431913" cy="211925"/>
          </a:xfrm>
          <a:prstGeom prst="bentArrow">
            <a:avLst>
              <a:gd name="adj1" fmla="val 25000"/>
              <a:gd name="adj2" fmla="val 25000"/>
              <a:gd name="adj3" fmla="val 42433"/>
              <a:gd name="adj4" fmla="val 4375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3254EFE-BB98-D76D-8AC4-6802A491ABE7}"/>
              </a:ext>
            </a:extLst>
          </p:cNvPr>
          <p:cNvSpPr txBox="1"/>
          <p:nvPr/>
        </p:nvSpPr>
        <p:spPr>
          <a:xfrm>
            <a:off x="2462560" y="430241"/>
            <a:ext cx="1542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y</a:t>
            </a:r>
            <a:endParaRPr lang="en-US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BE1686E7-B23C-C4F8-84A2-B2F3F02A5D95}"/>
              </a:ext>
            </a:extLst>
          </p:cNvPr>
          <p:cNvSpPr txBox="1"/>
          <p:nvPr/>
        </p:nvSpPr>
        <p:spPr>
          <a:xfrm>
            <a:off x="2462560" y="601603"/>
            <a:ext cx="1542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X</a:t>
            </a:r>
            <a:endParaRPr lang="en-US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E8210AE6-CD40-525C-7A07-3955AE0AFD10}"/>
              </a:ext>
            </a:extLst>
          </p:cNvPr>
          <p:cNvSpPr txBox="1"/>
          <p:nvPr/>
        </p:nvSpPr>
        <p:spPr>
          <a:xfrm>
            <a:off x="2769479" y="244834"/>
            <a:ext cx="1542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E</a:t>
            </a:r>
            <a:endParaRPr lang="en-US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2C9B3446-9602-D0D9-F0B3-08769CB46CBC}"/>
              </a:ext>
            </a:extLst>
          </p:cNvPr>
          <p:cNvSpPr txBox="1"/>
          <p:nvPr/>
        </p:nvSpPr>
        <p:spPr>
          <a:xfrm>
            <a:off x="2769479" y="391675"/>
            <a:ext cx="1542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E</a:t>
            </a:r>
            <a:endParaRPr lang="en-US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BFA01F11-B2A2-62B3-CA85-E2ED906BA81E}"/>
              </a:ext>
            </a:extLst>
          </p:cNvPr>
          <p:cNvSpPr txBox="1"/>
          <p:nvPr/>
        </p:nvSpPr>
        <p:spPr>
          <a:xfrm>
            <a:off x="2769479" y="623097"/>
            <a:ext cx="1542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A</a:t>
            </a:r>
            <a:endParaRPr lang="en-US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D50E834C-5422-0AB7-7328-27EA0756A65A}"/>
              </a:ext>
            </a:extLst>
          </p:cNvPr>
          <p:cNvSpPr txBox="1"/>
          <p:nvPr/>
        </p:nvSpPr>
        <p:spPr>
          <a:xfrm>
            <a:off x="2769479" y="773670"/>
            <a:ext cx="1542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A</a:t>
            </a:r>
            <a:endParaRPr lang="en-US" dirty="0"/>
          </a:p>
        </p:txBody>
      </p:sp>
      <p:sp>
        <p:nvSpPr>
          <p:cNvPr id="138" name="Rounded Rectangle 137">
            <a:extLst>
              <a:ext uri="{FF2B5EF4-FFF2-40B4-BE49-F238E27FC236}">
                <a16:creationId xmlns:a16="http://schemas.microsoft.com/office/drawing/2014/main" id="{A2340829-7790-49F6-9EFE-43A53150545D}"/>
              </a:ext>
            </a:extLst>
          </p:cNvPr>
          <p:cNvSpPr/>
          <p:nvPr/>
        </p:nvSpPr>
        <p:spPr>
          <a:xfrm>
            <a:off x="1973322" y="1435238"/>
            <a:ext cx="1560366" cy="1250413"/>
          </a:xfrm>
          <a:prstGeom prst="round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4AB0DB5B-DC04-F5EA-EBDC-8D72C7532C6A}"/>
                  </a:ext>
                </a:extLst>
              </p:cNvPr>
              <p:cNvSpPr txBox="1"/>
              <p:nvPr/>
            </p:nvSpPr>
            <p:spPr>
              <a:xfrm>
                <a:off x="337779" y="2456851"/>
                <a:ext cx="154384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800" b="0" i="1" dirty="0" smtClean="0">
                            <a:latin typeface="Cambria Math" panose="02040503050406030204" pitchFamily="18" charset="0"/>
                          </a:rPr>
                          <m:t>𝑋𝑆</m:t>
                        </m:r>
                      </m:sub>
                    </m:sSub>
                  </m:oMath>
                </a14:m>
                <a:r>
                  <a:rPr lang="en-US" sz="800" dirty="0"/>
                  <a:t>    X-shredding efficiency</a:t>
                </a:r>
              </a:p>
            </p:txBody>
          </p:sp>
        </mc:Choice>
        <mc:Fallback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4AB0DB5B-DC04-F5EA-EBDC-8D72C7532C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779" y="2456851"/>
                <a:ext cx="1543846" cy="215444"/>
              </a:xfrm>
              <a:prstGeom prst="rect">
                <a:avLst/>
              </a:prstGeom>
              <a:blipFill>
                <a:blip r:embed="rId1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4585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99</TotalTime>
  <Words>38</Words>
  <Application>Microsoft Macintosh PowerPoint</Application>
  <PresentationFormat>Custom</PresentationFormat>
  <Paragraphs>19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Prateek Verma</dc:creator>
  <cp:lastModifiedBy>Prateek Verma</cp:lastModifiedBy>
  <cp:revision>10</cp:revision>
  <dcterms:created xsi:type="dcterms:W3CDTF">2026-04-29T00:07:39Z</dcterms:created>
  <dcterms:modified xsi:type="dcterms:W3CDTF">2026-05-05T22:02:55Z</dcterms:modified>
</cp:coreProperties>
</file>